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4x3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0" y="4200000"/>
            <a:ext cx="9144000" cy="9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600000" y="1200000"/>
            <a:ext cx="8000000" cy="1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4800" dirty="0" b="1">
                <a:solidFill>
                  <a:srgbClr val="FFFFFF"/>
                </a:solidFill>
                <a:latin typeface="Segoe UI"/>
              </a:rPr>
              <a:t>RetailPulse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600000" y="2500000"/>
            <a:ext cx="80000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2000" dirty="0">
                <a:solidFill>
                  <a:srgbClr val="A8C7FA"/>
                </a:solidFill>
                <a:latin typeface="Segoe UI"/>
              </a:rPr>
              <a:t>E-Commerce Analytics Engineering on Google BigQuery + dbt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600000" y="440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Segoe UI"/>
              </a:rPr>
              <a:t>A Hands-On Project for Aspiring Data &amp; Analytics Engineers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600000" y="4700000"/>
            <a:ext cx="80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300" dirty="0">
                <a:solidFill>
                  <a:srgbClr val="FFFFFF"/>
                </a:solidFill>
                <a:latin typeface="Segoe UI"/>
              </a:rPr>
              <a:t>GCP  •  BigQuery  •  dbt Core  •  Airflow  •  Terraform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18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Segoe UI"/>
              </a:rPr>
              <a:t>What is RetailPulse?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62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A8C7FA"/>
                </a:solidFill>
                <a:latin typeface="Segoe UI"/>
              </a:rPr>
              <a:t>End-to-end analytics platform for e-commerce</a:t>
            </a:r>
          </a:p>
        </p:txBody>
      </p:sp>
      <p:sp>
        <p:nvSpPr>
          <p:cNvPr id="2" name="Shape"/>
          <p:cNvSpPr/>
          <p:nvPr/>
        </p:nvSpPr>
        <p:spPr>
          <a:xfrm>
            <a:off x="300000" y="1100000"/>
            <a:ext cx="41000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300000" y="1100000"/>
            <a:ext cx="4100000" cy="8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20000" y="1240000"/>
            <a:ext cx="38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20000" y="1620000"/>
            <a:ext cx="3860000" cy="29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Retail companies collect data from orders, customers, products, marketing campaigns, and website events — but raw data is messy and hard to trust for business decisions.</a:t>
            </a:r>
          </a:p>
        </p:txBody>
      </p:sp>
      <p:sp>
        <p:nvSpPr>
          <p:cNvPr id="2" name="Shape"/>
          <p:cNvSpPr/>
          <p:nvPr/>
        </p:nvSpPr>
        <p:spPr>
          <a:xfrm>
            <a:off x="4600000" y="1100000"/>
            <a:ext cx="41000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4600000" y="1100000"/>
            <a:ext cx="4100000" cy="8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720000" y="1240000"/>
            <a:ext cx="38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The Solution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720000" y="1620000"/>
            <a:ext cx="3860000" cy="29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RetailPulse ingests, cleans, transforms, and models data into trusted analytics tables — ready for dashboards and executive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18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Segoe UI"/>
              </a:rPr>
              <a:t>Why Analytics Engineering?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400000" y="1100000"/>
            <a:ext cx="8200000" cy="3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342900" indent="-342900">
              <a:buChar char="●"/>
            </a:pPr>
            <a:r>
              <a:rPr lang="en-US" sz="1800" dirty="0">
                <a:solidFill>
                  <a:srgbClr val="212121"/>
                </a:solidFill>
                <a:latin typeface="Segoe UI"/>
              </a:rPr>
              <a:t>Bridge the gap between Data Engineering and Business Analytics</a:t>
            </a:r>
          </a:p>
          <a:p>
            <a:pPr lvl="0" marL="342900" indent="-342900">
              <a:buChar char="●"/>
            </a:pPr>
            <a:r>
              <a:rPr lang="en-US" sz="1800" dirty="0">
                <a:solidFill>
                  <a:srgbClr val="212121"/>
                </a:solidFill>
                <a:latin typeface="Segoe UI"/>
              </a:rPr>
              <a:t>Transform raw data into reliable, tested, documented datasets</a:t>
            </a:r>
          </a:p>
          <a:p>
            <a:pPr lvl="0" marL="342900" indent="-342900">
              <a:buChar char="●"/>
            </a:pPr>
            <a:r>
              <a:rPr lang="en-US" sz="1800" dirty="0">
                <a:solidFill>
                  <a:srgbClr val="212121"/>
                </a:solidFill>
                <a:latin typeface="Segoe UI"/>
              </a:rPr>
              <a:t>Enable self-service BI — analysts focus on insights, not SQL cleanup</a:t>
            </a:r>
          </a:p>
          <a:p>
            <a:pPr lvl="0" marL="342900" indent="-342900">
              <a:buChar char="●"/>
            </a:pPr>
            <a:r>
              <a:rPr lang="en-US" sz="1800" dirty="0">
                <a:solidFill>
                  <a:srgbClr val="212121"/>
                </a:solidFill>
                <a:latin typeface="Segoe UI"/>
              </a:rPr>
              <a:t>Apply software engineering best practices: version control, CI/CD, testing</a:t>
            </a:r>
          </a:p>
          <a:p>
            <a:pPr lvl="0" marL="342900" indent="-342900">
              <a:buChar char="●"/>
            </a:pPr>
            <a:r>
              <a:rPr lang="en-US" sz="1800" dirty="0">
                <a:solidFill>
                  <a:srgbClr val="212121"/>
                </a:solidFill>
                <a:latin typeface="Segoe UI"/>
              </a:rPr>
              <a:t>High demand role: Analytics Engineer, Data Engineer, BI Developer</a:t>
            </a:r>
          </a:p>
        </p:txBody>
      </p:sp>
      <p:sp>
        <p:nvSpPr>
          <p:cNvPr id="2" name="Shape"/>
          <p:cNvSpPr/>
          <p:nvPr/>
        </p:nvSpPr>
        <p:spPr>
          <a:xfrm>
            <a:off x="400000" y="4500000"/>
            <a:ext cx="8200000" cy="40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550000" y="4560000"/>
            <a:ext cx="79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FFFFFF"/>
                </a:solidFill>
                <a:latin typeface="Segoe UI"/>
              </a:rPr>
              <a:t>💡 Analytics Engineers own the "T" in ELT — the transformation layer.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18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Segoe UI"/>
              </a:rPr>
              <a:t>Business Questions We Answer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62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A8C7FA"/>
                </a:solidFill>
                <a:latin typeface="Segoe UI"/>
              </a:rPr>
              <a:t>Real-world KPIs students will build</a:t>
            </a:r>
          </a:p>
        </p:txBody>
      </p:sp>
      <p:sp>
        <p:nvSpPr>
          <p:cNvPr id="2" name="Shape"/>
          <p:cNvSpPr/>
          <p:nvPr/>
        </p:nvSpPr>
        <p:spPr>
          <a:xfrm>
            <a:off x="300000" y="1100000"/>
            <a:ext cx="2700000" cy="1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300000" y="1100000"/>
            <a:ext cx="2700000" cy="8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20000" y="1240000"/>
            <a:ext cx="24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📈 Sales Trends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20000" y="1620000"/>
            <a:ext cx="2460000" cy="10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Daily, weekly &amp; monthly revenue, AOV, profit</a:t>
            </a:r>
          </a:p>
        </p:txBody>
      </p:sp>
      <p:sp>
        <p:nvSpPr>
          <p:cNvPr id="2" name="Shape"/>
          <p:cNvSpPr/>
          <p:nvPr/>
        </p:nvSpPr>
        <p:spPr>
          <a:xfrm>
            <a:off x="3200000" y="1100000"/>
            <a:ext cx="2700000" cy="1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3200000" y="1100000"/>
            <a:ext cx="2700000" cy="8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3320000" y="1240000"/>
            <a:ext cx="24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🏆 Top Products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3320000" y="1620000"/>
            <a:ext cx="2460000" cy="10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Revenue by product, category, and margin</a:t>
            </a:r>
          </a:p>
        </p:txBody>
      </p:sp>
      <p:sp>
        <p:nvSpPr>
          <p:cNvPr id="2" name="Shape"/>
          <p:cNvSpPr/>
          <p:nvPr/>
        </p:nvSpPr>
        <p:spPr>
          <a:xfrm>
            <a:off x="6100000" y="1100000"/>
            <a:ext cx="2700000" cy="1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6100000" y="1100000"/>
            <a:ext cx="2700000" cy="80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6220000" y="1240000"/>
            <a:ext cx="24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👤 Customer 360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6220000" y="1620000"/>
            <a:ext cx="2460000" cy="10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High-value, inactive &amp; churn-risk customers</a:t>
            </a:r>
          </a:p>
        </p:txBody>
      </p:sp>
      <p:sp>
        <p:nvSpPr>
          <p:cNvPr id="2" name="Shape"/>
          <p:cNvSpPr/>
          <p:nvPr/>
        </p:nvSpPr>
        <p:spPr>
          <a:xfrm>
            <a:off x="300000" y="2950000"/>
            <a:ext cx="2700000" cy="1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300000" y="2950000"/>
            <a:ext cx="2700000" cy="80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20000" y="3090000"/>
            <a:ext cx="24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🔄 Retention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20000" y="3470000"/>
            <a:ext cx="2460000" cy="10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Cohort analysis &amp; repeat purchase rate</a:t>
            </a:r>
          </a:p>
        </p:txBody>
      </p:sp>
      <p:sp>
        <p:nvSpPr>
          <p:cNvPr id="2" name="Shape"/>
          <p:cNvSpPr/>
          <p:nvPr/>
        </p:nvSpPr>
        <p:spPr>
          <a:xfrm>
            <a:off x="3200000" y="2950000"/>
            <a:ext cx="2700000" cy="1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3200000" y="2950000"/>
            <a:ext cx="2700000" cy="8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3320000" y="3090000"/>
            <a:ext cx="24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↩️ Returns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3320000" y="3470000"/>
            <a:ext cx="2460000" cy="10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Return rates by product and region</a:t>
            </a:r>
          </a:p>
        </p:txBody>
      </p:sp>
      <p:sp>
        <p:nvSpPr>
          <p:cNvPr id="2" name="Shape"/>
          <p:cNvSpPr/>
          <p:nvPr/>
        </p:nvSpPr>
        <p:spPr>
          <a:xfrm>
            <a:off x="6100000" y="2950000"/>
            <a:ext cx="2700000" cy="1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6100000" y="2950000"/>
            <a:ext cx="2700000" cy="8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6220000" y="3090000"/>
            <a:ext cx="24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📣 Campaign ROI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6220000" y="3470000"/>
            <a:ext cx="2460000" cy="10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Marketing spend vs attributed 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18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62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A8C7FA"/>
                </a:solidFill>
                <a:latin typeface="Segoe UI"/>
              </a:rPr>
              <a:t>100% open-source &amp; GCP-native — no paid third-party tools</a:t>
            </a:r>
          </a:p>
        </p:txBody>
      </p:sp>
      <p:sp>
        <p:nvSpPr>
          <p:cNvPr id="2" name="Shape"/>
          <p:cNvSpPr/>
          <p:nvPr/>
        </p:nvSpPr>
        <p:spPr>
          <a:xfrm>
            <a:off x="300000" y="1100000"/>
            <a:ext cx="420000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300000" y="1100000"/>
            <a:ext cx="4200000" cy="8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20000" y="1240000"/>
            <a:ext cx="39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Google Cloud Storage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20000" y="1620000"/>
            <a:ext cx="3960000" cy="2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Raw CSV file landing zone</a:t>
            </a:r>
          </a:p>
        </p:txBody>
      </p:sp>
      <p:sp>
        <p:nvSpPr>
          <p:cNvPr id="2" name="Shape"/>
          <p:cNvSpPr/>
          <p:nvPr/>
        </p:nvSpPr>
        <p:spPr>
          <a:xfrm>
            <a:off x="4700000" y="1100000"/>
            <a:ext cx="420000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4700000" y="1100000"/>
            <a:ext cx="4200000" cy="8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820000" y="1240000"/>
            <a:ext cx="39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Google BigQuery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820000" y="1620000"/>
            <a:ext cx="3960000" cy="2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Serverless cloud data warehouse</a:t>
            </a:r>
          </a:p>
        </p:txBody>
      </p:sp>
      <p:sp>
        <p:nvSpPr>
          <p:cNvPr id="2" name="Shape"/>
          <p:cNvSpPr/>
          <p:nvPr/>
        </p:nvSpPr>
        <p:spPr>
          <a:xfrm>
            <a:off x="300000" y="2050000"/>
            <a:ext cx="420000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300000" y="2050000"/>
            <a:ext cx="4200000" cy="80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20000" y="2190000"/>
            <a:ext cx="39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dbt Core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20000" y="2570000"/>
            <a:ext cx="3960000" cy="2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SQL-based transformation framework</a:t>
            </a:r>
          </a:p>
        </p:txBody>
      </p:sp>
      <p:sp>
        <p:nvSpPr>
          <p:cNvPr id="2" name="Shape"/>
          <p:cNvSpPr/>
          <p:nvPr/>
        </p:nvSpPr>
        <p:spPr>
          <a:xfrm>
            <a:off x="4700000" y="2050000"/>
            <a:ext cx="420000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4700000" y="2050000"/>
            <a:ext cx="4200000" cy="80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820000" y="2190000"/>
            <a:ext cx="39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Python 3.11+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820000" y="2570000"/>
            <a:ext cx="3960000" cy="2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Data generation &amp; ingestion scripts</a:t>
            </a:r>
          </a:p>
        </p:txBody>
      </p:sp>
      <p:sp>
        <p:nvSpPr>
          <p:cNvPr id="2" name="Shape"/>
          <p:cNvSpPr/>
          <p:nvPr/>
        </p:nvSpPr>
        <p:spPr>
          <a:xfrm>
            <a:off x="300000" y="3000000"/>
            <a:ext cx="420000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300000" y="3000000"/>
            <a:ext cx="4200000" cy="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20000" y="3140000"/>
            <a:ext cx="39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Apache Airflow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20000" y="3520000"/>
            <a:ext cx="3960000" cy="2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Pipeline orchestration (Composer-ready)</a:t>
            </a:r>
          </a:p>
        </p:txBody>
      </p:sp>
      <p:sp>
        <p:nvSpPr>
          <p:cNvPr id="2" name="Shape"/>
          <p:cNvSpPr/>
          <p:nvPr/>
        </p:nvSpPr>
        <p:spPr>
          <a:xfrm>
            <a:off x="4700000" y="3000000"/>
            <a:ext cx="420000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4700000" y="3000000"/>
            <a:ext cx="4200000" cy="8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820000" y="3140000"/>
            <a:ext cx="39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Terraform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820000" y="3520000"/>
            <a:ext cx="3960000" cy="2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Infrastructure as Code for GCP</a:t>
            </a:r>
          </a:p>
        </p:txBody>
      </p:sp>
      <p:sp>
        <p:nvSpPr>
          <p:cNvPr id="2" name="Shape"/>
          <p:cNvSpPr/>
          <p:nvPr/>
        </p:nvSpPr>
        <p:spPr>
          <a:xfrm>
            <a:off x="300000" y="3950000"/>
            <a:ext cx="420000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300000" y="3950000"/>
            <a:ext cx="4200000" cy="8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20000" y="4090000"/>
            <a:ext cx="39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GitHub Actions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20000" y="4470000"/>
            <a:ext cx="3960000" cy="2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CI/CD for dbt testing &amp; deployment</a:t>
            </a:r>
          </a:p>
        </p:txBody>
      </p:sp>
      <p:sp>
        <p:nvSpPr>
          <p:cNvPr id="2" name="Shape"/>
          <p:cNvSpPr/>
          <p:nvPr/>
        </p:nvSpPr>
        <p:spPr>
          <a:xfrm>
            <a:off x="4700000" y="3950000"/>
            <a:ext cx="420000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4700000" y="3950000"/>
            <a:ext cx="4200000" cy="80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820000" y="4090000"/>
            <a:ext cx="39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Looker Studio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820000" y="4470000"/>
            <a:ext cx="3960000" cy="2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Free BI dashboards for 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18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Segoe UI"/>
              </a:rPr>
              <a:t>Architecture Overview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62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A8C7FA"/>
                </a:solidFill>
                <a:latin typeface="Segoe UI"/>
              </a:rPr>
              <a:t>Medallion architecture on Google Cloud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400000" y="1100000"/>
            <a:ext cx="8200000" cy="3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① Python Generator  →  Synthetic retail CSV data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② Google Cloud Storage  →  Raw file storage (gs://bucket/raw/)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③ BigQuery Raw Layer  →  9 source tables with ingestion metadata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④ dbt Staging  →  Cleaned views with deduplication &amp; type casting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⑤ dbt Intermediate  →  Enriched business logic &amp; aggregations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⑥ dbt Core Marts  →  Star schema (dimensions + facts)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⑦ dbt Reporting  →  Looker Studio-ready KPI tables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⑧ Airflow DAG  →  Daily orchestration of the full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18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Segoe UI"/>
              </a:rPr>
              <a:t>Data Pipeline Flow</a:t>
            </a:r>
          </a:p>
        </p:txBody>
      </p:sp>
      <p:sp>
        <p:nvSpPr>
          <p:cNvPr id="2" name="Shape"/>
          <p:cNvSpPr/>
          <p:nvPr/>
        </p:nvSpPr>
        <p:spPr>
          <a:xfrm>
            <a:off x="250000" y="2000000"/>
            <a:ext cx="1200000" cy="80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250000" y="2150000"/>
            <a:ext cx="12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300" dirty="0" b="1">
                <a:solidFill>
                  <a:srgbClr val="FFFFFF"/>
                </a:solidFill>
                <a:latin typeface="Segoe UI"/>
              </a:rPr>
              <a:t>Generate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1470000" y="2200000"/>
            <a:ext cx="2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2000" dirty="0" b="1">
                <a:solidFill>
                  <a:srgbClr val="1B2A4A"/>
                </a:solidFill>
                <a:latin typeface="Segoe UI"/>
              </a:rPr>
              <a:t>→</a:t>
            </a:r>
          </a:p>
        </p:txBody>
      </p:sp>
      <p:sp>
        <p:nvSpPr>
          <p:cNvPr id="2" name="Shape"/>
          <p:cNvSpPr/>
          <p:nvPr/>
        </p:nvSpPr>
        <p:spPr>
          <a:xfrm>
            <a:off x="1700000" y="2000000"/>
            <a:ext cx="1200000" cy="80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700000" y="2150000"/>
            <a:ext cx="12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300" dirty="0" b="1">
                <a:solidFill>
                  <a:srgbClr val="FFFFFF"/>
                </a:solidFill>
                <a:latin typeface="Segoe UI"/>
              </a:rPr>
              <a:t>Upload GCS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2920000" y="2200000"/>
            <a:ext cx="2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2000" dirty="0" b="1">
                <a:solidFill>
                  <a:srgbClr val="1B2A4A"/>
                </a:solidFill>
                <a:latin typeface="Segoe UI"/>
              </a:rPr>
              <a:t>→</a:t>
            </a:r>
          </a:p>
        </p:txBody>
      </p:sp>
      <p:sp>
        <p:nvSpPr>
          <p:cNvPr id="2" name="Shape"/>
          <p:cNvSpPr/>
          <p:nvPr/>
        </p:nvSpPr>
        <p:spPr>
          <a:xfrm>
            <a:off x="3150000" y="2000000"/>
            <a:ext cx="1200000" cy="800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3150000" y="2150000"/>
            <a:ext cx="12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300" dirty="0" b="1">
                <a:solidFill>
                  <a:srgbClr val="FFFFFF"/>
                </a:solidFill>
                <a:latin typeface="Segoe UI"/>
              </a:rPr>
              <a:t>Load BQ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370000" y="2200000"/>
            <a:ext cx="2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2000" dirty="0" b="1">
                <a:solidFill>
                  <a:srgbClr val="1B2A4A"/>
                </a:solidFill>
                <a:latin typeface="Segoe UI"/>
              </a:rPr>
              <a:t>→</a:t>
            </a:r>
          </a:p>
        </p:txBody>
      </p:sp>
      <p:sp>
        <p:nvSpPr>
          <p:cNvPr id="2" name="Shape"/>
          <p:cNvSpPr/>
          <p:nvPr/>
        </p:nvSpPr>
        <p:spPr>
          <a:xfrm>
            <a:off x="4600000" y="2000000"/>
            <a:ext cx="1200000" cy="800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600000" y="2150000"/>
            <a:ext cx="12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300" dirty="0" b="1">
                <a:solidFill>
                  <a:srgbClr val="FFFFFF"/>
                </a:solidFill>
                <a:latin typeface="Segoe UI"/>
              </a:rPr>
              <a:t>dbt Run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5820000" y="2200000"/>
            <a:ext cx="2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2000" dirty="0" b="1">
                <a:solidFill>
                  <a:srgbClr val="1B2A4A"/>
                </a:solidFill>
                <a:latin typeface="Segoe UI"/>
              </a:rPr>
              <a:t>→</a:t>
            </a:r>
          </a:p>
        </p:txBody>
      </p:sp>
      <p:sp>
        <p:nvSpPr>
          <p:cNvPr id="2" name="Shape"/>
          <p:cNvSpPr/>
          <p:nvPr/>
        </p:nvSpPr>
        <p:spPr>
          <a:xfrm>
            <a:off x="6050000" y="2000000"/>
            <a:ext cx="1200000" cy="80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6050000" y="2150000"/>
            <a:ext cx="12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300" dirty="0" b="1">
                <a:solidFill>
                  <a:srgbClr val="FFFFFF"/>
                </a:solidFill>
                <a:latin typeface="Segoe UI"/>
              </a:rPr>
              <a:t>Test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7270000" y="2200000"/>
            <a:ext cx="2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2000" dirty="0" b="1">
                <a:solidFill>
                  <a:srgbClr val="1B2A4A"/>
                </a:solidFill>
                <a:latin typeface="Segoe UI"/>
              </a:rPr>
              <a:t>→</a:t>
            </a:r>
          </a:p>
        </p:txBody>
      </p:sp>
      <p:sp>
        <p:nvSpPr>
          <p:cNvPr id="2" name="Shape"/>
          <p:cNvSpPr/>
          <p:nvPr/>
        </p:nvSpPr>
        <p:spPr>
          <a:xfrm>
            <a:off x="7500000" y="2000000"/>
            <a:ext cx="1200000" cy="80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7500000" y="2150000"/>
            <a:ext cx="12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300" dirty="0" b="1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3200000"/>
            <a:ext cx="8200000" cy="1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500" dirty="0" b="1">
                <a:solidFill>
                  <a:srgbClr val="212121"/>
                </a:solidFill>
                <a:latin typeface="Segoe UI"/>
              </a:rPr>
              <a:t>Every step is automated via Makefile locally</a:t>
            </a:r>
          </a:p>
          <a:p>
            <a:pPr algn="l"/>
            <a:r>
              <a:rPr lang="en-US" sz="1500" dirty="0">
                <a:solidFill>
                  <a:srgbClr val="5F6368"/>
                </a:solidFill>
                <a:latin typeface="Segoe UI"/>
              </a:rPr>
              <a:t>and orchestrated daily via Airflow on Cloud Composer in production.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18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Segoe UI"/>
              </a:rPr>
              <a:t>BigQuery Dataset Design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62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A8C7FA"/>
                </a:solidFill>
                <a:latin typeface="Segoe UI"/>
              </a:rPr>
              <a:t>6 datasets — one per transformation layer</a:t>
            </a:r>
          </a:p>
        </p:txBody>
      </p:sp>
      <p:sp>
        <p:nvSpPr>
          <p:cNvPr id="2" name="Shape"/>
          <p:cNvSpPr/>
          <p:nvPr/>
        </p:nvSpPr>
        <p:spPr>
          <a:xfrm>
            <a:off x="400000" y="1100000"/>
            <a:ext cx="250000" cy="52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750000" y="1150000"/>
            <a:ext cx="35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retailpulse_raw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300000" y="1180000"/>
            <a:ext cx="45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5F6368"/>
                </a:solidFill>
                <a:latin typeface="Segoe UI"/>
              </a:rPr>
              <a:t>Raw ingested CSV data + metadata columns</a:t>
            </a:r>
          </a:p>
        </p:txBody>
      </p:sp>
      <p:sp>
        <p:nvSpPr>
          <p:cNvPr id="2" name="Shape"/>
          <p:cNvSpPr/>
          <p:nvPr/>
        </p:nvSpPr>
        <p:spPr>
          <a:xfrm>
            <a:off x="400000" y="1720000"/>
            <a:ext cx="250000" cy="52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750000" y="1770000"/>
            <a:ext cx="35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retailpulse_staging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300000" y="1800000"/>
            <a:ext cx="45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5F6368"/>
                </a:solidFill>
                <a:latin typeface="Segoe UI"/>
              </a:rPr>
              <a:t>dbt staging views — cleaned &amp; deduplicated</a:t>
            </a:r>
          </a:p>
        </p:txBody>
      </p:sp>
      <p:sp>
        <p:nvSpPr>
          <p:cNvPr id="2" name="Shape"/>
          <p:cNvSpPr/>
          <p:nvPr/>
        </p:nvSpPr>
        <p:spPr>
          <a:xfrm>
            <a:off x="400000" y="2340000"/>
            <a:ext cx="250000" cy="520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750000" y="2390000"/>
            <a:ext cx="35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retailpulse_intermediate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300000" y="2420000"/>
            <a:ext cx="45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5F6368"/>
                </a:solidFill>
                <a:latin typeface="Segoe UI"/>
              </a:rPr>
              <a:t>Enriched joins &amp; business calculations</a:t>
            </a:r>
          </a:p>
        </p:txBody>
      </p:sp>
      <p:sp>
        <p:nvSpPr>
          <p:cNvPr id="2" name="Shape"/>
          <p:cNvSpPr/>
          <p:nvPr/>
        </p:nvSpPr>
        <p:spPr>
          <a:xfrm>
            <a:off x="400000" y="2960000"/>
            <a:ext cx="250000" cy="520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750000" y="3010000"/>
            <a:ext cx="35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retailpulse_analytics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300000" y="3040000"/>
            <a:ext cx="45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5F6368"/>
                </a:solidFill>
                <a:latin typeface="Segoe UI"/>
              </a:rPr>
              <a:t>Star schema dimensions &amp; fact tables</a:t>
            </a:r>
          </a:p>
        </p:txBody>
      </p:sp>
      <p:sp>
        <p:nvSpPr>
          <p:cNvPr id="2" name="Shape"/>
          <p:cNvSpPr/>
          <p:nvPr/>
        </p:nvSpPr>
        <p:spPr>
          <a:xfrm>
            <a:off x="400000" y="3580000"/>
            <a:ext cx="250000" cy="52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750000" y="3630000"/>
            <a:ext cx="35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retailpulse_reporting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300000" y="3660000"/>
            <a:ext cx="45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5F6368"/>
                </a:solidFill>
                <a:latin typeface="Segoe UI"/>
              </a:rPr>
              <a:t>Final KPI marts for dashboards</a:t>
            </a:r>
          </a:p>
        </p:txBody>
      </p:sp>
      <p:sp>
        <p:nvSpPr>
          <p:cNvPr id="2" name="Shape"/>
          <p:cNvSpPr/>
          <p:nvPr/>
        </p:nvSpPr>
        <p:spPr>
          <a:xfrm>
            <a:off x="400000" y="4200000"/>
            <a:ext cx="250000" cy="52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750000" y="4250000"/>
            <a:ext cx="3500000" cy="4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retailpulse_snapshots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300000" y="4280000"/>
            <a:ext cx="45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5F6368"/>
                </a:solidFill>
                <a:latin typeface="Segoe UI"/>
              </a:rPr>
              <a:t>SCD Type 2 history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18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Segoe UI"/>
              </a:rPr>
              <a:t>dbt Modeling — Medallion Architecture</a:t>
            </a:r>
          </a:p>
        </p:txBody>
      </p:sp>
      <p:sp>
        <p:nvSpPr>
          <p:cNvPr id="2" name="Shape"/>
          <p:cNvSpPr/>
          <p:nvPr/>
        </p:nvSpPr>
        <p:spPr>
          <a:xfrm>
            <a:off x="300000" y="1300000"/>
            <a:ext cx="2700000" cy="3200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50000" y="1450000"/>
            <a:ext cx="24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000" dirty="0" b="1">
                <a:solidFill>
                  <a:srgbClr val="1B2A4A"/>
                </a:solidFill>
                <a:latin typeface="Segoe UI"/>
              </a:rPr>
              <a:t>🥉 Bronze / Raw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50000" y="2100000"/>
            <a:ext cx="2400000" cy="2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5F6368"/>
                </a:solidFill>
                <a:latin typeface="Segoe UI"/>
              </a:rPr>
              <a:t>9 source tables in BigQuery
_ingested_at, _source_file, _batch_id</a:t>
            </a:r>
          </a:p>
        </p:txBody>
      </p:sp>
      <p:sp>
        <p:nvSpPr>
          <p:cNvPr id="2" name="Shape"/>
          <p:cNvSpPr/>
          <p:nvPr/>
        </p:nvSpPr>
        <p:spPr>
          <a:xfrm>
            <a:off x="3300000" y="1300000"/>
            <a:ext cx="2700000" cy="320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3450000" y="1450000"/>
            <a:ext cx="24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000" dirty="0" b="1">
                <a:solidFill>
                  <a:srgbClr val="FFFFFF"/>
                </a:solidFill>
                <a:latin typeface="Segoe UI"/>
              </a:rPr>
              <a:t>🥈 Silver / Staging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3450000" y="2100000"/>
            <a:ext cx="2400000" cy="2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FFFFFF"/>
                </a:solidFill>
                <a:latin typeface="Segoe UI"/>
              </a:rPr>
              <a:t>9 staging views
Dedup, cast, rename, audit columns</a:t>
            </a:r>
          </a:p>
        </p:txBody>
      </p:sp>
      <p:sp>
        <p:nvSpPr>
          <p:cNvPr id="2" name="Shape"/>
          <p:cNvSpPr/>
          <p:nvPr/>
        </p:nvSpPr>
        <p:spPr>
          <a:xfrm>
            <a:off x="6300000" y="1300000"/>
            <a:ext cx="2700000" cy="320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6450000" y="1450000"/>
            <a:ext cx="24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000" dirty="0" b="1">
                <a:solidFill>
                  <a:srgbClr val="FFFFFF"/>
                </a:solidFill>
                <a:latin typeface="Segoe UI"/>
              </a:rPr>
              <a:t>🥇 Gold / Marts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6450000" y="2100000"/>
            <a:ext cx="2400000" cy="2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FFFFFF"/>
                </a:solidFill>
                <a:latin typeface="Segoe UI"/>
              </a:rPr>
              <a:t>4 dims + 4 facts + 6 reporting marts
Partitioned, clustered, incremental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18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Segoe UI"/>
              </a:rPr>
              <a:t>Staging Layer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62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A8C7FA"/>
                </a:solidFill>
                <a:latin typeface="Segoe UI"/>
              </a:rPr>
              <a:t>One model per source table — views, not tables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400000" y="1100000"/>
            <a:ext cx="4200000" cy="3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source() references to raw tables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Explicit type casting (INT64, FLOAT64, DATE)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row_number() deduplication on primary keys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Null-safe coalesce() for optional fields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Audit columns via audit_columns() macro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Source freshness checks (24h warn, 48h error)</a:t>
            </a:r>
          </a:p>
        </p:txBody>
      </p:sp>
      <p:sp>
        <p:nvSpPr>
          <p:cNvPr id="2" name="Shape"/>
          <p:cNvSpPr/>
          <p:nvPr/>
        </p:nvSpPr>
        <p:spPr>
          <a:xfrm>
            <a:off x="4900000" y="1200000"/>
            <a:ext cx="1950000" cy="38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950000" y="1250000"/>
            <a:ext cx="185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100" dirty="0">
                <a:solidFill>
                  <a:srgbClr val="FFFFFF"/>
                </a:solidFill>
                <a:latin typeface="Segoe UI"/>
              </a:rPr>
              <a:t>stg_customers</a:t>
            </a:r>
          </a:p>
        </p:txBody>
      </p:sp>
      <p:sp>
        <p:nvSpPr>
          <p:cNvPr id="2" name="Shape"/>
          <p:cNvSpPr/>
          <p:nvPr/>
        </p:nvSpPr>
        <p:spPr>
          <a:xfrm>
            <a:off x="7000000" y="1200000"/>
            <a:ext cx="1950000" cy="38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7050000" y="1250000"/>
            <a:ext cx="185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100" dirty="0">
                <a:solidFill>
                  <a:srgbClr val="FFFFFF"/>
                </a:solidFill>
                <a:latin typeface="Segoe UI"/>
              </a:rPr>
              <a:t>stg_products</a:t>
            </a:r>
          </a:p>
        </p:txBody>
      </p:sp>
      <p:sp>
        <p:nvSpPr>
          <p:cNvPr id="2" name="Shape"/>
          <p:cNvSpPr/>
          <p:nvPr/>
        </p:nvSpPr>
        <p:spPr>
          <a:xfrm>
            <a:off x="4900000" y="1650000"/>
            <a:ext cx="1950000" cy="38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950000" y="1700000"/>
            <a:ext cx="185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100" dirty="0">
                <a:solidFill>
                  <a:srgbClr val="FFFFFF"/>
                </a:solidFill>
                <a:latin typeface="Segoe UI"/>
              </a:rPr>
              <a:t>stg_orders</a:t>
            </a:r>
          </a:p>
        </p:txBody>
      </p:sp>
      <p:sp>
        <p:nvSpPr>
          <p:cNvPr id="2" name="Shape"/>
          <p:cNvSpPr/>
          <p:nvPr/>
        </p:nvSpPr>
        <p:spPr>
          <a:xfrm>
            <a:off x="7000000" y="1650000"/>
            <a:ext cx="1950000" cy="38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7050000" y="1700000"/>
            <a:ext cx="185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100" dirty="0">
                <a:solidFill>
                  <a:srgbClr val="FFFFFF"/>
                </a:solidFill>
                <a:latin typeface="Segoe UI"/>
              </a:rPr>
              <a:t>stg_order_items</a:t>
            </a:r>
          </a:p>
        </p:txBody>
      </p:sp>
      <p:sp>
        <p:nvSpPr>
          <p:cNvPr id="2" name="Shape"/>
          <p:cNvSpPr/>
          <p:nvPr/>
        </p:nvSpPr>
        <p:spPr>
          <a:xfrm>
            <a:off x="4900000" y="2100000"/>
            <a:ext cx="1950000" cy="38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950000" y="2150000"/>
            <a:ext cx="185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100" dirty="0">
                <a:solidFill>
                  <a:srgbClr val="FFFFFF"/>
                </a:solidFill>
                <a:latin typeface="Segoe UI"/>
              </a:rPr>
              <a:t>stg_payments</a:t>
            </a:r>
          </a:p>
        </p:txBody>
      </p:sp>
      <p:sp>
        <p:nvSpPr>
          <p:cNvPr id="2" name="Shape"/>
          <p:cNvSpPr/>
          <p:nvPr/>
        </p:nvSpPr>
        <p:spPr>
          <a:xfrm>
            <a:off x="7000000" y="2100000"/>
            <a:ext cx="1950000" cy="38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7050000" y="2150000"/>
            <a:ext cx="185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100" dirty="0">
                <a:solidFill>
                  <a:srgbClr val="FFFFFF"/>
                </a:solidFill>
                <a:latin typeface="Segoe UI"/>
              </a:rPr>
              <a:t>stg_returns</a:t>
            </a:r>
          </a:p>
        </p:txBody>
      </p:sp>
      <p:sp>
        <p:nvSpPr>
          <p:cNvPr id="2" name="Shape"/>
          <p:cNvSpPr/>
          <p:nvPr/>
        </p:nvSpPr>
        <p:spPr>
          <a:xfrm>
            <a:off x="4900000" y="2550000"/>
            <a:ext cx="1950000" cy="38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950000" y="2600000"/>
            <a:ext cx="185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100" dirty="0">
                <a:solidFill>
                  <a:srgbClr val="FFFFFF"/>
                </a:solidFill>
                <a:latin typeface="Segoe UI"/>
              </a:rPr>
              <a:t>stg_web_events</a:t>
            </a:r>
          </a:p>
        </p:txBody>
      </p:sp>
      <p:sp>
        <p:nvSpPr>
          <p:cNvPr id="2" name="Shape"/>
          <p:cNvSpPr/>
          <p:nvPr/>
        </p:nvSpPr>
        <p:spPr>
          <a:xfrm>
            <a:off x="7000000" y="2550000"/>
            <a:ext cx="1950000" cy="38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7050000" y="2600000"/>
            <a:ext cx="185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100" dirty="0">
                <a:solidFill>
                  <a:srgbClr val="FFFFFF"/>
                </a:solidFill>
                <a:latin typeface="Segoe UI"/>
              </a:rPr>
              <a:t>stg_marketing_campaigns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18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Segoe UI"/>
              </a:rPr>
              <a:t>Core Analytics — Star Schema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1050000"/>
            <a:ext cx="40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800" dirty="0" b="1">
                <a:solidFill>
                  <a:srgbClr val="4285F4"/>
                </a:solidFill>
                <a:latin typeface="Segoe UI"/>
              </a:rPr>
              <a:t>Dimension Tables</a:t>
            </a:r>
          </a:p>
        </p:txBody>
      </p:sp>
      <p:sp>
        <p:nvSpPr>
          <p:cNvPr id="2" name="Shape"/>
          <p:cNvSpPr/>
          <p:nvPr/>
        </p:nvSpPr>
        <p:spPr>
          <a:xfrm>
            <a:off x="400000" y="1500000"/>
            <a:ext cx="3800000" cy="48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550000" y="1560000"/>
            <a:ext cx="350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dim_customers</a:t>
            </a:r>
          </a:p>
        </p:txBody>
      </p:sp>
      <p:sp>
        <p:nvSpPr>
          <p:cNvPr id="2" name="Shape"/>
          <p:cNvSpPr/>
          <p:nvPr/>
        </p:nvSpPr>
        <p:spPr>
          <a:xfrm>
            <a:off x="400000" y="2050000"/>
            <a:ext cx="3800000" cy="48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550000" y="2110000"/>
            <a:ext cx="350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dim_products</a:t>
            </a:r>
          </a:p>
        </p:txBody>
      </p:sp>
      <p:sp>
        <p:nvSpPr>
          <p:cNvPr id="2" name="Shape"/>
          <p:cNvSpPr/>
          <p:nvPr/>
        </p:nvSpPr>
        <p:spPr>
          <a:xfrm>
            <a:off x="400000" y="2600000"/>
            <a:ext cx="3800000" cy="48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550000" y="2660000"/>
            <a:ext cx="350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dim_categories</a:t>
            </a:r>
          </a:p>
        </p:txBody>
      </p:sp>
      <p:sp>
        <p:nvSpPr>
          <p:cNvPr id="2" name="Shape"/>
          <p:cNvSpPr/>
          <p:nvPr/>
        </p:nvSpPr>
        <p:spPr>
          <a:xfrm>
            <a:off x="400000" y="3150000"/>
            <a:ext cx="3800000" cy="480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550000" y="3210000"/>
            <a:ext cx="350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dim_date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800000" y="1050000"/>
            <a:ext cx="40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800" dirty="0" b="1">
                <a:solidFill>
                  <a:srgbClr val="00BFA5"/>
                </a:solidFill>
                <a:latin typeface="Segoe UI"/>
              </a:rPr>
              <a:t>Fact Tables (Partitioned + Clustered)</a:t>
            </a:r>
          </a:p>
        </p:txBody>
      </p:sp>
      <p:sp>
        <p:nvSpPr>
          <p:cNvPr id="2" name="Shape"/>
          <p:cNvSpPr/>
          <p:nvPr/>
        </p:nvSpPr>
        <p:spPr>
          <a:xfrm>
            <a:off x="4800000" y="1500000"/>
            <a:ext cx="4000000" cy="480000"/>
          </a:xfrm>
          <a:prstGeom prst="rect">
            <a:avLst/>
          </a:prstGeom>
          <a:solidFill>
            <a:srgbClr val="E0F7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950000" y="1560000"/>
            <a:ext cx="370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fct_orders</a:t>
            </a:r>
          </a:p>
        </p:txBody>
      </p:sp>
      <p:sp>
        <p:nvSpPr>
          <p:cNvPr id="2" name="Shape"/>
          <p:cNvSpPr/>
          <p:nvPr/>
        </p:nvSpPr>
        <p:spPr>
          <a:xfrm>
            <a:off x="4800000" y="2050000"/>
            <a:ext cx="4000000" cy="480000"/>
          </a:xfrm>
          <a:prstGeom prst="rect">
            <a:avLst/>
          </a:prstGeom>
          <a:solidFill>
            <a:srgbClr val="E0F7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950000" y="2110000"/>
            <a:ext cx="370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fct_order_items</a:t>
            </a:r>
          </a:p>
        </p:txBody>
      </p:sp>
      <p:sp>
        <p:nvSpPr>
          <p:cNvPr id="2" name="Shape"/>
          <p:cNvSpPr/>
          <p:nvPr/>
        </p:nvSpPr>
        <p:spPr>
          <a:xfrm>
            <a:off x="4800000" y="2600000"/>
            <a:ext cx="4000000" cy="480000"/>
          </a:xfrm>
          <a:prstGeom prst="rect">
            <a:avLst/>
          </a:prstGeom>
          <a:solidFill>
            <a:srgbClr val="E0F7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950000" y="2660000"/>
            <a:ext cx="370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fct_returns</a:t>
            </a:r>
          </a:p>
        </p:txBody>
      </p:sp>
      <p:sp>
        <p:nvSpPr>
          <p:cNvPr id="2" name="Shape"/>
          <p:cNvSpPr/>
          <p:nvPr/>
        </p:nvSpPr>
        <p:spPr>
          <a:xfrm>
            <a:off x="4800000" y="3150000"/>
            <a:ext cx="4000000" cy="480000"/>
          </a:xfrm>
          <a:prstGeom prst="rect">
            <a:avLst/>
          </a:prstGeom>
          <a:solidFill>
            <a:srgbClr val="E0F7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950000" y="3210000"/>
            <a:ext cx="370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fct_web_events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4200000"/>
            <a:ext cx="82000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300" dirty="0" b="1">
                <a:solidFill>
                  <a:srgbClr val="FF6D00"/>
                </a:solidFill>
                <a:latin typeface="Segoe UI"/>
              </a:rPr>
              <a:t>fct_order_items &amp; fct_web_events use incremental MERGE strategy with 7-day lookback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18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Segoe UI"/>
              </a:rPr>
              <a:t>Reporting Layer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62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A8C7FA"/>
                </a:solidFill>
                <a:latin typeface="Segoe UI"/>
              </a:rPr>
              <a:t>Looker Studio-ready KPI tables</a:t>
            </a:r>
          </a:p>
        </p:txBody>
      </p:sp>
      <p:sp>
        <p:nvSpPr>
          <p:cNvPr id="2" name="Shape"/>
          <p:cNvSpPr/>
          <p:nvPr/>
        </p:nvSpPr>
        <p:spPr>
          <a:xfrm>
            <a:off x="300000" y="1100000"/>
            <a:ext cx="4200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300000" y="1100000"/>
            <a:ext cx="4200000" cy="8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20000" y="1240000"/>
            <a:ext cx="39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mart_daily_sales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20000" y="1620000"/>
            <a:ext cx="3960000" cy="4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Revenue trends, AOV, return rate</a:t>
            </a:r>
          </a:p>
        </p:txBody>
      </p:sp>
      <p:sp>
        <p:nvSpPr>
          <p:cNvPr id="2" name="Shape"/>
          <p:cNvSpPr/>
          <p:nvPr/>
        </p:nvSpPr>
        <p:spPr>
          <a:xfrm>
            <a:off x="4700000" y="1100000"/>
            <a:ext cx="4200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4700000" y="1100000"/>
            <a:ext cx="4200000" cy="8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820000" y="1240000"/>
            <a:ext cx="39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mart_customer_360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820000" y="1620000"/>
            <a:ext cx="3960000" cy="4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CLV, segments, churn risk flag</a:t>
            </a:r>
          </a:p>
        </p:txBody>
      </p:sp>
      <p:sp>
        <p:nvSpPr>
          <p:cNvPr id="2" name="Shape"/>
          <p:cNvSpPr/>
          <p:nvPr/>
        </p:nvSpPr>
        <p:spPr>
          <a:xfrm>
            <a:off x="300000" y="2350000"/>
            <a:ext cx="4200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300000" y="2350000"/>
            <a:ext cx="4200000" cy="80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20000" y="2490000"/>
            <a:ext cx="39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mart_product_performance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20000" y="2870000"/>
            <a:ext cx="3960000" cy="4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Units sold, margin, return rate</a:t>
            </a:r>
          </a:p>
        </p:txBody>
      </p:sp>
      <p:sp>
        <p:nvSpPr>
          <p:cNvPr id="2" name="Shape"/>
          <p:cNvSpPr/>
          <p:nvPr/>
        </p:nvSpPr>
        <p:spPr>
          <a:xfrm>
            <a:off x="4700000" y="2350000"/>
            <a:ext cx="4200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4700000" y="2350000"/>
            <a:ext cx="4200000" cy="80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820000" y="2490000"/>
            <a:ext cx="39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mart_campaign_roi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820000" y="2870000"/>
            <a:ext cx="3960000" cy="4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Budget vs revenue, ROI %</a:t>
            </a:r>
          </a:p>
        </p:txBody>
      </p:sp>
      <p:sp>
        <p:nvSpPr>
          <p:cNvPr id="2" name="Shape"/>
          <p:cNvSpPr/>
          <p:nvPr/>
        </p:nvSpPr>
        <p:spPr>
          <a:xfrm>
            <a:off x="300000" y="3600000"/>
            <a:ext cx="4200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300000" y="3600000"/>
            <a:ext cx="4200000" cy="8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20000" y="3740000"/>
            <a:ext cx="39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mart_customer_retention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20000" y="4120000"/>
            <a:ext cx="3960000" cy="4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Cohort retention analysis</a:t>
            </a:r>
          </a:p>
        </p:txBody>
      </p:sp>
      <p:sp>
        <p:nvSpPr>
          <p:cNvPr id="2" name="Shape"/>
          <p:cNvSpPr/>
          <p:nvPr/>
        </p:nvSpPr>
        <p:spPr>
          <a:xfrm>
            <a:off x="4700000" y="3600000"/>
            <a:ext cx="4200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4700000" y="3600000"/>
            <a:ext cx="4200000" cy="8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820000" y="3740000"/>
            <a:ext cx="39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mart_regional_sales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820000" y="4120000"/>
            <a:ext cx="3960000" cy="4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Geographic revenue breakdown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18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Segoe UI"/>
              </a:rPr>
              <a:t>Data Quality &amp; Testing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62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A8C7FA"/>
                </a:solidFill>
                <a:latin typeface="Segoe UI"/>
              </a:rPr>
              <a:t>Trust is built into every layer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400000" y="1100000"/>
            <a:ext cx="4000000" cy="3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unique &amp; not_null on primary keys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relationships — foreign key integrity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accepted_values — valid status enums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expression_is_true — payment_amount &gt;= 0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Custom: no negative revenue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Custom: no future order dates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Custom: return amount ≤ item net sales</a:t>
            </a:r>
          </a:p>
        </p:txBody>
      </p:sp>
      <p:sp>
        <p:nvSpPr>
          <p:cNvPr id="2" name="Shape"/>
          <p:cNvSpPr/>
          <p:nvPr/>
        </p:nvSpPr>
        <p:spPr>
          <a:xfrm>
            <a:off x="4800000" y="1100000"/>
            <a:ext cx="4000000" cy="1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4800000" y="1100000"/>
            <a:ext cx="4000000" cy="8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920000" y="1240000"/>
            <a:ext cx="37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Source Freshness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920000" y="1620000"/>
            <a:ext cx="3760000" cy="10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Warns if raw data is &gt;24 hours old.
Errors if &gt;48 hours stale.
Ensures dashboards reflect current data.</a:t>
            </a:r>
          </a:p>
        </p:txBody>
      </p:sp>
      <p:sp>
        <p:nvSpPr>
          <p:cNvPr id="2" name="Shape"/>
          <p:cNvSpPr/>
          <p:nvPr/>
        </p:nvSpPr>
        <p:spPr>
          <a:xfrm>
            <a:off x="4800000" y="3000000"/>
            <a:ext cx="4000000" cy="1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4800000" y="3000000"/>
            <a:ext cx="4000000" cy="8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920000" y="3140000"/>
            <a:ext cx="37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SCD Type 2 Snapshots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920000" y="3520000"/>
            <a:ext cx="3760000" cy="10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snap_customers — tracks city, state, status changes
snap_products — tracks price &amp; category changes
Uses timestamp strategy with invalidate_hard_deletes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18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Segoe UI"/>
              </a:rPr>
              <a:t>Airflow Orchestration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62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A8C7FA"/>
                </a:solidFill>
                <a:latin typeface="Segoe UI"/>
              </a:rPr>
              <a:t>Cloud Composer-compatible DAG</a:t>
            </a:r>
          </a:p>
        </p:txBody>
      </p:sp>
      <p:sp>
        <p:nvSpPr>
          <p:cNvPr id="2" name="Shape"/>
          <p:cNvSpPr/>
          <p:nvPr/>
        </p:nvSpPr>
        <p:spPr>
          <a:xfrm>
            <a:off x="300000" y="1100000"/>
            <a:ext cx="4200000" cy="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300000" y="1100000"/>
            <a:ext cx="120000" cy="65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80000" y="1220000"/>
            <a:ext cx="39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1B2A4A"/>
                </a:solidFill>
                <a:latin typeface="Segoe UI"/>
              </a:rPr>
              <a:t>1. generate_source_data</a:t>
            </a:r>
          </a:p>
        </p:txBody>
      </p:sp>
      <p:sp>
        <p:nvSpPr>
          <p:cNvPr id="2" name="Shape"/>
          <p:cNvSpPr/>
          <p:nvPr/>
        </p:nvSpPr>
        <p:spPr>
          <a:xfrm>
            <a:off x="4700000" y="1100000"/>
            <a:ext cx="4200000" cy="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4700000" y="1100000"/>
            <a:ext cx="120000" cy="65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880000" y="1220000"/>
            <a:ext cx="39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1B2A4A"/>
                </a:solidFill>
                <a:latin typeface="Segoe UI"/>
              </a:rPr>
              <a:t>2. upload_to_gcs</a:t>
            </a:r>
          </a:p>
        </p:txBody>
      </p:sp>
      <p:sp>
        <p:nvSpPr>
          <p:cNvPr id="2" name="Shape"/>
          <p:cNvSpPr/>
          <p:nvPr/>
        </p:nvSpPr>
        <p:spPr>
          <a:xfrm>
            <a:off x="300000" y="1850000"/>
            <a:ext cx="4200000" cy="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300000" y="1850000"/>
            <a:ext cx="120000" cy="65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80000" y="1970000"/>
            <a:ext cx="39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1B2A4A"/>
                </a:solidFill>
                <a:latin typeface="Segoe UI"/>
              </a:rPr>
              <a:t>3. create_bigquery_datasets</a:t>
            </a:r>
          </a:p>
        </p:txBody>
      </p:sp>
      <p:sp>
        <p:nvSpPr>
          <p:cNvPr id="2" name="Shape"/>
          <p:cNvSpPr/>
          <p:nvPr/>
        </p:nvSpPr>
        <p:spPr>
          <a:xfrm>
            <a:off x="4700000" y="1850000"/>
            <a:ext cx="4200000" cy="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4700000" y="1850000"/>
            <a:ext cx="120000" cy="65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880000" y="1970000"/>
            <a:ext cx="39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1B2A4A"/>
                </a:solidFill>
                <a:latin typeface="Segoe UI"/>
              </a:rPr>
              <a:t>4. load_raw_data_to_bigquery</a:t>
            </a:r>
          </a:p>
        </p:txBody>
      </p:sp>
      <p:sp>
        <p:nvSpPr>
          <p:cNvPr id="2" name="Shape"/>
          <p:cNvSpPr/>
          <p:nvPr/>
        </p:nvSpPr>
        <p:spPr>
          <a:xfrm>
            <a:off x="300000" y="2600000"/>
            <a:ext cx="4200000" cy="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300000" y="2600000"/>
            <a:ext cx="120000" cy="65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80000" y="2720000"/>
            <a:ext cx="39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1B2A4A"/>
                </a:solidFill>
                <a:latin typeface="Segoe UI"/>
              </a:rPr>
              <a:t>5. dbt_source_freshness</a:t>
            </a:r>
          </a:p>
        </p:txBody>
      </p:sp>
      <p:sp>
        <p:nvSpPr>
          <p:cNvPr id="2" name="Shape"/>
          <p:cNvSpPr/>
          <p:nvPr/>
        </p:nvSpPr>
        <p:spPr>
          <a:xfrm>
            <a:off x="4700000" y="2600000"/>
            <a:ext cx="4200000" cy="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4700000" y="2600000"/>
            <a:ext cx="120000" cy="65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880000" y="2720000"/>
            <a:ext cx="39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1B2A4A"/>
                </a:solidFill>
                <a:latin typeface="Segoe UI"/>
              </a:rPr>
              <a:t>6. dbt_snapshots</a:t>
            </a:r>
          </a:p>
        </p:txBody>
      </p:sp>
      <p:sp>
        <p:nvSpPr>
          <p:cNvPr id="2" name="Shape"/>
          <p:cNvSpPr/>
          <p:nvPr/>
        </p:nvSpPr>
        <p:spPr>
          <a:xfrm>
            <a:off x="300000" y="3350000"/>
            <a:ext cx="4200000" cy="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300000" y="3350000"/>
            <a:ext cx="120000" cy="65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80000" y="3470000"/>
            <a:ext cx="39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1B2A4A"/>
                </a:solidFill>
                <a:latin typeface="Segoe UI"/>
              </a:rPr>
              <a:t>7. dbt_run_models</a:t>
            </a:r>
          </a:p>
        </p:txBody>
      </p:sp>
      <p:sp>
        <p:nvSpPr>
          <p:cNvPr id="2" name="Shape"/>
          <p:cNvSpPr/>
          <p:nvPr/>
        </p:nvSpPr>
        <p:spPr>
          <a:xfrm>
            <a:off x="4700000" y="3350000"/>
            <a:ext cx="4200000" cy="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4700000" y="3350000"/>
            <a:ext cx="120000" cy="65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880000" y="3470000"/>
            <a:ext cx="39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1B2A4A"/>
                </a:solidFill>
                <a:latin typeface="Segoe UI"/>
              </a:rPr>
              <a:t>8. dbt_test</a:t>
            </a:r>
          </a:p>
        </p:txBody>
      </p:sp>
      <p:sp>
        <p:nvSpPr>
          <p:cNvPr id="2" name="Shape"/>
          <p:cNvSpPr/>
          <p:nvPr/>
        </p:nvSpPr>
        <p:spPr>
          <a:xfrm>
            <a:off x="300000" y="4100000"/>
            <a:ext cx="4200000" cy="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300000" y="4100000"/>
            <a:ext cx="120000" cy="65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80000" y="4220000"/>
            <a:ext cx="39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1B2A4A"/>
                </a:solidFill>
                <a:latin typeface="Segoe UI"/>
              </a:rPr>
              <a:t>9. dbt_generate_docs</a:t>
            </a:r>
          </a:p>
        </p:txBody>
      </p:sp>
      <p:sp>
        <p:nvSpPr>
          <p:cNvPr id="2" name="Shape"/>
          <p:cNvSpPr/>
          <p:nvPr/>
        </p:nvSpPr>
        <p:spPr>
          <a:xfrm>
            <a:off x="4700000" y="4100000"/>
            <a:ext cx="4200000" cy="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4700000" y="4100000"/>
            <a:ext cx="120000" cy="65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880000" y="4220000"/>
            <a:ext cx="39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1B2A4A"/>
                </a:solidFill>
                <a:latin typeface="Segoe UI"/>
              </a:rPr>
              <a:t>10. pipeline_completion_log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18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Segoe UI"/>
              </a:rPr>
              <a:t>CI/CD with GitHub Actions</a:t>
            </a:r>
          </a:p>
        </p:txBody>
      </p:sp>
      <p:sp>
        <p:nvSpPr>
          <p:cNvPr id="2" name="Shape"/>
          <p:cNvSpPr/>
          <p:nvPr/>
        </p:nvSpPr>
        <p:spPr>
          <a:xfrm>
            <a:off x="300000" y="1100000"/>
            <a:ext cx="41000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300000" y="1100000"/>
            <a:ext cx="4100000" cy="8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20000" y="1240000"/>
            <a:ext cx="38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Pull Request CI (dbt_ci.yml)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20000" y="1620000"/>
            <a:ext cx="3860000" cy="29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• Install Python + dbt dependencies
• Authenticate to GCP
• dbt parse &amp; compile
• Test changed models only
• SQLFluff linting
• Fail pipeline on test failure</a:t>
            </a:r>
          </a:p>
        </p:txBody>
      </p:sp>
      <p:sp>
        <p:nvSpPr>
          <p:cNvPr id="2" name="Shape"/>
          <p:cNvSpPr/>
          <p:nvPr/>
        </p:nvSpPr>
        <p:spPr>
          <a:xfrm>
            <a:off x="4600000" y="1100000"/>
            <a:ext cx="41000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4600000" y="1100000"/>
            <a:ext cx="4100000" cy="8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720000" y="1240000"/>
            <a:ext cx="38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Production Deploy (dbt_deploy.yml)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720000" y="1620000"/>
            <a:ext cx="3860000" cy="29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• Triggered on merge to main
• dbt build against prod target
• Generate &amp; upload dbt docs to GCS
• Uses secrets: GCP_PROJECT_ID,
  GCP_SA_KEY, GCS_BUCKET_NAME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18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Segoe UI"/>
              </a:rPr>
              <a:t>Infrastructure as Code — Terraform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400000" y="1100000"/>
            <a:ext cx="8200000" cy="2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GCS bucket with lifecycle rules (Nearline after 90 days)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6 BigQuery datasets with labels (environment, layer)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Service account with least-privilege IAM roles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bigquery.dataEditor + bigquery.jobUser + storage.objectAdmin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Optional Composer environment (disabled by default — cost control)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Variables: project_id, region, environment, bucket_name</a:t>
            </a:r>
          </a:p>
        </p:txBody>
      </p:sp>
      <p:sp>
        <p:nvSpPr>
          <p:cNvPr id="2" name="Shape"/>
          <p:cNvSpPr/>
          <p:nvPr/>
        </p:nvSpPr>
        <p:spPr>
          <a:xfrm>
            <a:off x="400000" y="3800000"/>
            <a:ext cx="8200000" cy="9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550000" y="3950000"/>
            <a:ext cx="79000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800" dirty="0" b="1">
                <a:solidFill>
                  <a:srgbClr val="FFFFFF"/>
                </a:solidFill>
                <a:latin typeface="Segoe UI"/>
              </a:rPr>
              <a:t>terraform init  →  terraform plan  →  terraform apply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18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Segoe UI"/>
              </a:rPr>
              <a:t>Synthetic Data at Scale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62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A8C7FA"/>
                </a:solidFill>
                <a:latin typeface="Segoe UI"/>
              </a:rPr>
              <a:t>Configurable via Python CLI arguments</a:t>
            </a:r>
          </a:p>
        </p:txBody>
      </p:sp>
      <p:sp>
        <p:nvSpPr>
          <p:cNvPr id="2" name="Shape"/>
          <p:cNvSpPr/>
          <p:nvPr/>
        </p:nvSpPr>
        <p:spPr>
          <a:xfrm>
            <a:off x="400000" y="1200000"/>
            <a:ext cx="2600000" cy="1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1400000"/>
            <a:ext cx="26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3600" dirty="0" b="1">
                <a:solidFill>
                  <a:srgbClr val="4285F4"/>
                </a:solidFill>
                <a:latin typeface="Segoe UI"/>
              </a:rPr>
              <a:t>5,000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2100000"/>
            <a:ext cx="26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600" dirty="0">
                <a:solidFill>
                  <a:srgbClr val="5F6368"/>
                </a:solidFill>
                <a:latin typeface="Segoe UI"/>
              </a:rPr>
              <a:t>Customers</a:t>
            </a:r>
          </a:p>
        </p:txBody>
      </p:sp>
      <p:sp>
        <p:nvSpPr>
          <p:cNvPr id="2" name="Shape"/>
          <p:cNvSpPr/>
          <p:nvPr/>
        </p:nvSpPr>
        <p:spPr>
          <a:xfrm>
            <a:off x="3300000" y="1200000"/>
            <a:ext cx="2600000" cy="1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3300000" y="1400000"/>
            <a:ext cx="26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3600" dirty="0" b="1">
                <a:solidFill>
                  <a:srgbClr val="4285F4"/>
                </a:solidFill>
                <a:latin typeface="Segoe UI"/>
              </a:rPr>
              <a:t>500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3300000" y="2100000"/>
            <a:ext cx="26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600" dirty="0">
                <a:solidFill>
                  <a:srgbClr val="5F6368"/>
                </a:solidFill>
                <a:latin typeface="Segoe UI"/>
              </a:rPr>
              <a:t>Products</a:t>
            </a:r>
          </a:p>
        </p:txBody>
      </p:sp>
      <p:sp>
        <p:nvSpPr>
          <p:cNvPr id="2" name="Shape"/>
          <p:cNvSpPr/>
          <p:nvPr/>
        </p:nvSpPr>
        <p:spPr>
          <a:xfrm>
            <a:off x="6200000" y="1200000"/>
            <a:ext cx="2600000" cy="1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6200000" y="1400000"/>
            <a:ext cx="26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3600" dirty="0" b="1">
                <a:solidFill>
                  <a:srgbClr val="4285F4"/>
                </a:solidFill>
                <a:latin typeface="Segoe UI"/>
              </a:rPr>
              <a:t>50,000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6200000" y="2100000"/>
            <a:ext cx="26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600" dirty="0">
                <a:solidFill>
                  <a:srgbClr val="5F6368"/>
                </a:solidFill>
                <a:latin typeface="Segoe UI"/>
              </a:rPr>
              <a:t>Orders</a:t>
            </a:r>
          </a:p>
        </p:txBody>
      </p:sp>
      <p:sp>
        <p:nvSpPr>
          <p:cNvPr id="2" name="Shape"/>
          <p:cNvSpPr/>
          <p:nvPr/>
        </p:nvSpPr>
        <p:spPr>
          <a:xfrm>
            <a:off x="400000" y="2900000"/>
            <a:ext cx="2600000" cy="1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3100000"/>
            <a:ext cx="26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3600" dirty="0" b="1">
                <a:solidFill>
                  <a:srgbClr val="4285F4"/>
                </a:solidFill>
                <a:latin typeface="Segoe UI"/>
              </a:rPr>
              <a:t>100,000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3800000"/>
            <a:ext cx="26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600" dirty="0">
                <a:solidFill>
                  <a:srgbClr val="5F6368"/>
                </a:solidFill>
                <a:latin typeface="Segoe UI"/>
              </a:rPr>
              <a:t>Order Items</a:t>
            </a:r>
          </a:p>
        </p:txBody>
      </p:sp>
      <p:sp>
        <p:nvSpPr>
          <p:cNvPr id="2" name="Shape"/>
          <p:cNvSpPr/>
          <p:nvPr/>
        </p:nvSpPr>
        <p:spPr>
          <a:xfrm>
            <a:off x="3300000" y="2900000"/>
            <a:ext cx="2600000" cy="1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3300000" y="3100000"/>
            <a:ext cx="26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3600" dirty="0" b="1">
                <a:solidFill>
                  <a:srgbClr val="4285F4"/>
                </a:solidFill>
                <a:latin typeface="Segoe UI"/>
              </a:rPr>
              <a:t>200,000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3300000" y="3800000"/>
            <a:ext cx="26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600" dirty="0">
                <a:solidFill>
                  <a:srgbClr val="5F6368"/>
                </a:solidFill>
                <a:latin typeface="Segoe UI"/>
              </a:rPr>
              <a:t>Web Events</a:t>
            </a:r>
          </a:p>
        </p:txBody>
      </p:sp>
      <p:sp>
        <p:nvSpPr>
          <p:cNvPr id="2" name="Shape"/>
          <p:cNvSpPr/>
          <p:nvPr/>
        </p:nvSpPr>
        <p:spPr>
          <a:xfrm>
            <a:off x="6200000" y="2900000"/>
            <a:ext cx="2600000" cy="1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6200000" y="3100000"/>
            <a:ext cx="26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3600" dirty="0" b="1">
                <a:solidFill>
                  <a:srgbClr val="4285F4"/>
                </a:solidFill>
                <a:latin typeface="Segoe UI"/>
              </a:rPr>
              <a:t>20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6200000" y="3800000"/>
            <a:ext cx="26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600" dirty="0">
                <a:solidFill>
                  <a:srgbClr val="5F6368"/>
                </a:solidFill>
                <a:latin typeface="Segoe UI"/>
              </a:rPr>
              <a:t>Marketing Campaigns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18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Segoe UI"/>
              </a:rPr>
              <a:t>Hands-On: Get Started in 10 Minutes</a:t>
            </a:r>
          </a:p>
        </p:txBody>
      </p:sp>
      <p:sp>
        <p:nvSpPr>
          <p:cNvPr id="2" name="Shape"/>
          <p:cNvSpPr/>
          <p:nvPr/>
        </p:nvSpPr>
        <p:spPr>
          <a:xfrm>
            <a:off x="400000" y="1100000"/>
            <a:ext cx="8200000" cy="460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550000" y="1180000"/>
            <a:ext cx="79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1B2A4A"/>
                </a:solidFill>
                <a:latin typeface="Segoe UI"/>
              </a:rPr>
              <a:t>$ git clone &lt;repo&gt; &amp;&amp; cd retailpulse-bigquery-dbt</a:t>
            </a:r>
          </a:p>
        </p:txBody>
      </p:sp>
      <p:sp>
        <p:nvSpPr>
          <p:cNvPr id="2" name="Shape"/>
          <p:cNvSpPr/>
          <p:nvPr/>
        </p:nvSpPr>
        <p:spPr>
          <a:xfrm>
            <a:off x="400000" y="1620000"/>
            <a:ext cx="8200000" cy="460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550000" y="1700000"/>
            <a:ext cx="79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1B2A4A"/>
                </a:solidFill>
                <a:latin typeface="Segoe UI"/>
              </a:rPr>
              <a:t>$ cp .env.example .env   # add your GCP project ID</a:t>
            </a:r>
          </a:p>
        </p:txBody>
      </p:sp>
      <p:sp>
        <p:nvSpPr>
          <p:cNvPr id="2" name="Shape"/>
          <p:cNvSpPr/>
          <p:nvPr/>
        </p:nvSpPr>
        <p:spPr>
          <a:xfrm>
            <a:off x="400000" y="2140000"/>
            <a:ext cx="8200000" cy="460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550000" y="2220000"/>
            <a:ext cx="79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1B2A4A"/>
                </a:solidFill>
                <a:latin typeface="Segoe UI"/>
              </a:rPr>
              <a:t>$ make setup             # Python venv + dependencies</a:t>
            </a:r>
          </a:p>
        </p:txBody>
      </p:sp>
      <p:sp>
        <p:nvSpPr>
          <p:cNvPr id="2" name="Shape"/>
          <p:cNvSpPr/>
          <p:nvPr/>
        </p:nvSpPr>
        <p:spPr>
          <a:xfrm>
            <a:off x="400000" y="2660000"/>
            <a:ext cx="8200000" cy="460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550000" y="2740000"/>
            <a:ext cx="79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1B2A4A"/>
                </a:solidFill>
                <a:latin typeface="Segoe UI"/>
              </a:rPr>
              <a:t>$ make generate          # Create synthetic CSV data</a:t>
            </a:r>
          </a:p>
        </p:txBody>
      </p:sp>
      <p:sp>
        <p:nvSpPr>
          <p:cNvPr id="2" name="Shape"/>
          <p:cNvSpPr/>
          <p:nvPr/>
        </p:nvSpPr>
        <p:spPr>
          <a:xfrm>
            <a:off x="400000" y="3180000"/>
            <a:ext cx="8200000" cy="460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550000" y="3260000"/>
            <a:ext cx="79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1B2A4A"/>
                </a:solidFill>
                <a:latin typeface="Segoe UI"/>
              </a:rPr>
              <a:t>$ LOAD_FROM_LOCAL=true make load   # Load into BigQuery</a:t>
            </a:r>
          </a:p>
        </p:txBody>
      </p:sp>
      <p:sp>
        <p:nvSpPr>
          <p:cNvPr id="2" name="Shape"/>
          <p:cNvSpPr/>
          <p:nvPr/>
        </p:nvSpPr>
        <p:spPr>
          <a:xfrm>
            <a:off x="400000" y="3700000"/>
            <a:ext cx="8200000" cy="460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550000" y="3780000"/>
            <a:ext cx="79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1B2A4A"/>
                </a:solidFill>
                <a:latin typeface="Segoe UI"/>
              </a:rPr>
              <a:t>$ make dbt-deps &amp;&amp; make dbt-build  # Transform + test</a:t>
            </a:r>
          </a:p>
        </p:txBody>
      </p:sp>
      <p:sp>
        <p:nvSpPr>
          <p:cNvPr id="2" name="Shape"/>
          <p:cNvSpPr/>
          <p:nvPr/>
        </p:nvSpPr>
        <p:spPr>
          <a:xfrm>
            <a:off x="400000" y="4220000"/>
            <a:ext cx="8200000" cy="460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550000" y="4300000"/>
            <a:ext cx="79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300" dirty="0">
                <a:solidFill>
                  <a:srgbClr val="1B2A4A"/>
                </a:solidFill>
                <a:latin typeface="Segoe UI"/>
              </a:rPr>
              <a:t>$ make dbt-docs          # Generate documentation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18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Segoe UI"/>
              </a:rPr>
              <a:t>Looker Studio Dashboard Ideas</a:t>
            </a:r>
          </a:p>
        </p:txBody>
      </p:sp>
      <p:sp>
        <p:nvSpPr>
          <p:cNvPr id="2" name="Shape"/>
          <p:cNvSpPr/>
          <p:nvPr/>
        </p:nvSpPr>
        <p:spPr>
          <a:xfrm>
            <a:off x="300000" y="1100000"/>
            <a:ext cx="4200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300000" y="1100000"/>
            <a:ext cx="4200000" cy="8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20000" y="1240000"/>
            <a:ext cx="39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Executive Sales  →  mart_daily_sales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20000" y="1620000"/>
            <a:ext cx="3960000" cy="4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Revenue trend line, AOV scorecard</a:t>
            </a:r>
          </a:p>
        </p:txBody>
      </p:sp>
      <p:sp>
        <p:nvSpPr>
          <p:cNvPr id="2" name="Shape"/>
          <p:cNvSpPr/>
          <p:nvPr/>
        </p:nvSpPr>
        <p:spPr>
          <a:xfrm>
            <a:off x="4700000" y="1100000"/>
            <a:ext cx="4200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4700000" y="1100000"/>
            <a:ext cx="4200000" cy="8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820000" y="1240000"/>
            <a:ext cx="39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Customer 360  →  mart_customer_360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820000" y="1620000"/>
            <a:ext cx="3960000" cy="4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Segment pie chart, churn risk table</a:t>
            </a:r>
          </a:p>
        </p:txBody>
      </p:sp>
      <p:sp>
        <p:nvSpPr>
          <p:cNvPr id="2" name="Shape"/>
          <p:cNvSpPr/>
          <p:nvPr/>
        </p:nvSpPr>
        <p:spPr>
          <a:xfrm>
            <a:off x="300000" y="2350000"/>
            <a:ext cx="4200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300000" y="2350000"/>
            <a:ext cx="4200000" cy="80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20000" y="2490000"/>
            <a:ext cx="39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Product Analytics  →  mart_product_performance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20000" y="2870000"/>
            <a:ext cx="3960000" cy="4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Top 10 products bar chart</a:t>
            </a:r>
          </a:p>
        </p:txBody>
      </p:sp>
      <p:sp>
        <p:nvSpPr>
          <p:cNvPr id="2" name="Shape"/>
          <p:cNvSpPr/>
          <p:nvPr/>
        </p:nvSpPr>
        <p:spPr>
          <a:xfrm>
            <a:off x="4700000" y="2350000"/>
            <a:ext cx="4200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4700000" y="2350000"/>
            <a:ext cx="4200000" cy="80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820000" y="2490000"/>
            <a:ext cx="39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Marketing ROI  →  mart_campaign_roi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820000" y="2870000"/>
            <a:ext cx="3960000" cy="4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ROI % by channel comparison</a:t>
            </a:r>
          </a:p>
        </p:txBody>
      </p:sp>
      <p:sp>
        <p:nvSpPr>
          <p:cNvPr id="2" name="Shape"/>
          <p:cNvSpPr/>
          <p:nvPr/>
        </p:nvSpPr>
        <p:spPr>
          <a:xfrm>
            <a:off x="300000" y="3600000"/>
            <a:ext cx="4200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300000" y="3600000"/>
            <a:ext cx="4200000" cy="8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20000" y="3740000"/>
            <a:ext cx="39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Retention  →  mart_customer_retention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20000" y="4120000"/>
            <a:ext cx="3960000" cy="4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Cohort heatmap</a:t>
            </a:r>
          </a:p>
        </p:txBody>
      </p:sp>
      <p:sp>
        <p:nvSpPr>
          <p:cNvPr id="2" name="Shape"/>
          <p:cNvSpPr/>
          <p:nvPr/>
        </p:nvSpPr>
        <p:spPr>
          <a:xfrm>
            <a:off x="4700000" y="3600000"/>
            <a:ext cx="4200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Shape"/>
          <p:cNvSpPr/>
          <p:nvPr/>
        </p:nvSpPr>
        <p:spPr>
          <a:xfrm>
            <a:off x="4700000" y="3600000"/>
            <a:ext cx="4200000" cy="8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820000" y="3740000"/>
            <a:ext cx="396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1B2A4A"/>
                </a:solidFill>
                <a:latin typeface="Segoe UI"/>
              </a:rPr>
              <a:t>Regional  →  mart_regional_sales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820000" y="4120000"/>
            <a:ext cx="3960000" cy="4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Geo map by state/city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18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Segoe UI"/>
              </a:rPr>
              <a:t>Career Value &amp; Resume Bullets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400000" y="1100000"/>
            <a:ext cx="8200000" cy="3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Built end-to-end analytics platform processing 50K+ orders on BigQuery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Designed medallion architecture with 6 datasets and 30+ dbt models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Implemented star schema with partitioned/clustered fact tables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Created SCD Type 2 snapshots for dimension change tracking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Built CI/CD pipeline with GitHub Actions for dbt test &amp; deploy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Developed Airflow DAG for daily orchestration on Cloud Composer</a:t>
            </a:r>
          </a:p>
          <a:p>
            <a:pPr lvl="0" marL="342900" indent="-342900">
              <a:buChar char="●"/>
            </a:pPr>
            <a:r>
              <a:rPr lang="en-US" sz="1600" dirty="0">
                <a:solidFill>
                  <a:srgbClr val="212121"/>
                </a:solidFill>
                <a:latin typeface="Segoe UI"/>
              </a:rPr>
              <a:t>Provisioned GCP infrastructure (GCS, BigQuery, IAM) using Terraform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400000" y="18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Segoe UI"/>
              </a:rPr>
              <a:t>Interview Questions You Can Answer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1100000"/>
            <a:ext cx="8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4285F4"/>
                </a:solidFill>
                <a:latin typeface="Segoe UI"/>
              </a:rPr>
              <a:t>Q: Why medallion architecture?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1450000"/>
            <a:ext cx="8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A: Clear layer separation — raw preservation, clean staging, reusable logic, business marts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1850000"/>
            <a:ext cx="8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4285F4"/>
                </a:solidFill>
                <a:latin typeface="Segoe UI"/>
              </a:rPr>
              <a:t>Q: Partition vs cluster?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2200000"/>
            <a:ext cx="8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A: Partition by date reduces scan cost; cluster on filter columns like customer_id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2600000"/>
            <a:ext cx="8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4285F4"/>
                </a:solidFill>
                <a:latin typeface="Segoe UI"/>
              </a:rPr>
              <a:t>Q: Incremental vs full refresh?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2950000"/>
            <a:ext cx="8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A: Incremental for large append-heavy facts; full refresh for small dimensions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3350000"/>
            <a:ext cx="8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4285F4"/>
                </a:solidFill>
                <a:latin typeface="Segoe UI"/>
              </a:rPr>
              <a:t>Q: How handle late-arriving data?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3700000"/>
            <a:ext cx="8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A: incremental_lookback_days var reprocesses recent 7 days each run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4100000"/>
            <a:ext cx="8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400" dirty="0" b="1">
                <a:solidFill>
                  <a:srgbClr val="4285F4"/>
                </a:solidFill>
                <a:latin typeface="Segoe UI"/>
              </a:rPr>
              <a:t>Q: How ensure data quality?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400000" y="4450000"/>
            <a:ext cx="8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5F6368"/>
                </a:solidFill>
                <a:latin typeface="Segoe UI"/>
              </a:rPr>
              <a:t>A: dbt tests + custom SQL tests + source freshness + SCD snapshots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600000" y="1600000"/>
            <a:ext cx="8000000" cy="10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4400" dirty="0" b="1">
                <a:solidFill>
                  <a:srgbClr val="FFFFFF"/>
                </a:solidFill>
                <a:latin typeface="Segoe UI"/>
              </a:rPr>
              <a:t>Thank You!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600000" y="2800000"/>
            <a:ext cx="8000000" cy="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2000" dirty="0">
                <a:solidFill>
                  <a:srgbClr val="A8C7FA"/>
                </a:solidFill>
                <a:latin typeface="Segoe UI"/>
              </a:rPr>
              <a:t>Questions?  Let's build data pipelines together.</a:t>
            </a:r>
          </a:p>
        </p:txBody>
      </p:sp>
      <p:sp>
        <p:nvSpPr>
          <p:cNvPr id="2" name="Shape"/>
          <p:cNvSpPr/>
          <p:nvPr/>
        </p:nvSpPr>
        <p:spPr>
          <a:xfrm>
            <a:off x="2000000" y="3800000"/>
            <a:ext cx="5144000" cy="8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600000" y="4000000"/>
            <a:ext cx="8000000" cy="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Segoe UI"/>
              </a:rPr>
              <a:t>github.com/your-org/retailpulse-bigquery-dbt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ailPulse">
  <a:themeElements>
    <a:clrScheme name="RP">
      <a:dk1>
        <a:srgbClr val="212121"/>
      </a:dk1>
      <a:lt1>
        <a:srgbClr val="FFFFFF"/>
      </a:lt1>
      <a:dk2>
        <a:srgbClr val="1B2A4A"/>
      </a:dk2>
      <a:lt2>
        <a:srgbClr val="F5F7FA"/>
      </a:lt2>
      <a:accent1>
        <a:srgbClr val="4285F4"/>
      </a:accent1>
      <a:accent2>
        <a:srgbClr val="00BFA5"/>
      </a:accent2>
      <a:accent3>
        <a:srgbClr val="FF6D00"/>
      </a:accent3>
      <a:accent4>
        <a:srgbClr val="7C4DFF"/>
      </a:accent4>
      <a:accent5>
        <a:srgbClr val="1B2A4A"/>
      </a:accent5>
      <a:accent6>
        <a:srgbClr val="5F6368"/>
      </a:accent6>
      <a:hlink>
        <a:srgbClr val="4285F4"/>
      </a:hlink>
      <a:folHlink>
        <a:srgbClr val="7C4DFF"/>
      </a:folHlink>
    </a:clrScheme>
    <a:fontScheme name="RP">
      <a:majorFont>
        <a:latin typeface="Segoe UI"/>
      </a:majorFont>
      <a:minorFont>
        <a:latin typeface="Segoe UI"/>
      </a:minorFont>
    </a:fontScheme>
    <a:fmtScheme name="RP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RetailPulse Generator</Application>
  <Slides>22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RetailPulse - Analytics Engineering</dc:title>
  <dc:creator>RetailPulse</dc:creator>
  <dc:description>Student presentation for RetailPulse BigQuery dbt project</dc:description>
</cp:coreProperties>
</file>