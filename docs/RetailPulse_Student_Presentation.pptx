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34"/>
  </p:sldMasterIdLst>
  <p:sldIdLst>
    <p:sldId id="257" r:id="rId1"/>
    <p:sldId id="258" r:id="rId2"/>
    <p:sldId id="259" r:id="rId3"/>
    <p:sldId id="260" r:id="rId4"/>
    <p:sldId id="261" r:id="rId5"/>
    <p:sldId id="262" r:id="rId6"/>
    <p:sldId id="263" r:id="rId7"/>
    <p:sldId id="264" r:id="rId8"/>
    <p:sldId id="265" r:id="rId9"/>
    <p:sldId id="266" r:id="rId10"/>
    <p:sldId id="267" r:id="rId11"/>
    <p:sldId id="268" r:id="rId12"/>
    <p:sldId id="269" r:id="rId13"/>
    <p:sldId id="270" r:id="rId14"/>
    <p:sldId id="271" r:id="rId15"/>
    <p:sldId id="272" r:id="rId16"/>
    <p:sldId id="273" r:id="rId17"/>
    <p:sldId id="274" r:id="rId18"/>
    <p:sldId id="275" r:id="rId19"/>
    <p:sldId id="276" r:id="rId20"/>
    <p:sldId id="277" r:id="rId21"/>
    <p:sldId id="278" r:id="rId22"/>
    <p:sldId id="279" r:id="rId23"/>
    <p:sldId id="280" r:id="rId24"/>
    <p:sldId id="281" r:id="rId25"/>
    <p:sldId id="282" r:id="rId26"/>
    <p:sldId id="283" r:id="rId27"/>
    <p:sldId id="284" r:id="rId28"/>
    <p:sldId id="285" r:id="rId29"/>
    <p:sldId id="286" r:id="rId30"/>
    <p:sldId id="287" r:id="rId31"/>
    <p:sldId id="288" r:id="rId32"/>
    <p:sldId id="289" r:id="rId33"/>
  </p:sldIdLst>
  <p:sldSz cx="9144000" cy="6858000" type="screen4x3"/>
  <p:notesSz cx="6858000" cy="9144000"/>
</p:presentation>
</file>

<file path=ppt/_rels/presentation.xml.rels><Relationships xmlns="http://schemas.openxmlformats.org/package/2006/relationships">
  <Relationship Id="rId1" Type="http://schemas.openxmlformats.org/officeDocument/2006/relationships/slide" Target="slides/slide1.xml"/>
  <Relationship Id="rId2" Type="http://schemas.openxmlformats.org/officeDocument/2006/relationships/slide" Target="slides/slide2.xml"/>
  <Relationship Id="rId3" Type="http://schemas.openxmlformats.org/officeDocument/2006/relationships/slide" Target="slides/slide3.xml"/>
  <Relationship Id="rId4" Type="http://schemas.openxmlformats.org/officeDocument/2006/relationships/slide" Target="slides/slide4.xml"/>
  <Relationship Id="rId5" Type="http://schemas.openxmlformats.org/officeDocument/2006/relationships/slide" Target="slides/slide5.xml"/>
  <Relationship Id="rId6" Type="http://schemas.openxmlformats.org/officeDocument/2006/relationships/slide" Target="slides/slide6.xml"/>
  <Relationship Id="rId7" Type="http://schemas.openxmlformats.org/officeDocument/2006/relationships/slide" Target="slides/slide7.xml"/>
  <Relationship Id="rId8" Type="http://schemas.openxmlformats.org/officeDocument/2006/relationships/slide" Target="slides/slide8.xml"/>
  <Relationship Id="rId9" Type="http://schemas.openxmlformats.org/officeDocument/2006/relationships/slide" Target="slides/slide9.xml"/>
  <Relationship Id="rId10" Type="http://schemas.openxmlformats.org/officeDocument/2006/relationships/slide" Target="slides/slide10.xml"/>
  <Relationship Id="rId11" Type="http://schemas.openxmlformats.org/officeDocument/2006/relationships/slide" Target="slides/slide11.xml"/>
  <Relationship Id="rId12" Type="http://schemas.openxmlformats.org/officeDocument/2006/relationships/slide" Target="slides/slide12.xml"/>
  <Relationship Id="rId13" Type="http://schemas.openxmlformats.org/officeDocument/2006/relationships/slide" Target="slides/slide13.xml"/>
  <Relationship Id="rId14" Type="http://schemas.openxmlformats.org/officeDocument/2006/relationships/slide" Target="slides/slide14.xml"/>
  <Relationship Id="rId15" Type="http://schemas.openxmlformats.org/officeDocument/2006/relationships/slide" Target="slides/slide15.xml"/>
  <Relationship Id="rId16" Type="http://schemas.openxmlformats.org/officeDocument/2006/relationships/slide" Target="slides/slide16.xml"/>
  <Relationship Id="rId17" Type="http://schemas.openxmlformats.org/officeDocument/2006/relationships/slide" Target="slides/slide17.xml"/>
  <Relationship Id="rId18" Type="http://schemas.openxmlformats.org/officeDocument/2006/relationships/slide" Target="slides/slide18.xml"/>
  <Relationship Id="rId19" Type="http://schemas.openxmlformats.org/officeDocument/2006/relationships/slide" Target="slides/slide19.xml"/>
  <Relationship Id="rId20" Type="http://schemas.openxmlformats.org/officeDocument/2006/relationships/slide" Target="slides/slide20.xml"/>
  <Relationship Id="rId21" Type="http://schemas.openxmlformats.org/officeDocument/2006/relationships/slide" Target="slides/slide21.xml"/>
  <Relationship Id="rId22" Type="http://schemas.openxmlformats.org/officeDocument/2006/relationships/slide" Target="slides/slide22.xml"/>
  <Relationship Id="rId23" Type="http://schemas.openxmlformats.org/officeDocument/2006/relationships/slide" Target="slides/slide23.xml"/>
  <Relationship Id="rId24" Type="http://schemas.openxmlformats.org/officeDocument/2006/relationships/slide" Target="slides/slide24.xml"/>
  <Relationship Id="rId25" Type="http://schemas.openxmlformats.org/officeDocument/2006/relationships/slide" Target="slides/slide25.xml"/>
  <Relationship Id="rId26" Type="http://schemas.openxmlformats.org/officeDocument/2006/relationships/slide" Target="slides/slide26.xml"/>
  <Relationship Id="rId27" Type="http://schemas.openxmlformats.org/officeDocument/2006/relationships/slide" Target="slides/slide27.xml"/>
  <Relationship Id="rId28" Type="http://schemas.openxmlformats.org/officeDocument/2006/relationships/slide" Target="slides/slide28.xml"/>
  <Relationship Id="rId29" Type="http://schemas.openxmlformats.org/officeDocument/2006/relationships/slide" Target="slides/slide29.xml"/>
  <Relationship Id="rId30" Type="http://schemas.openxmlformats.org/officeDocument/2006/relationships/slide" Target="slides/slide30.xml"/>
  <Relationship Id="rId31" Type="http://schemas.openxmlformats.org/officeDocument/2006/relationships/slide" Target="slides/slide31.xml"/>
  <Relationship Id="rId32" Type="http://schemas.openxmlformats.org/officeDocument/2006/relationships/slide" Target="slides/slide32.xml"/>
  <Relationship Id="rId33" Type="http://schemas.openxmlformats.org/officeDocument/2006/relationships/slide" Target="slides/slide33.xml"/>
  <Relationship Id="rId34" Type="http://schemas.openxmlformats.org/officeDocument/2006/relationships/slideMaster" Target="slideMasters/slideMaster1.xml"/>
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AndBody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4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5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6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7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8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9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10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1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1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1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14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15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16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17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18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19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20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2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2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2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24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25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26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27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28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29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30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3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3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3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2400"/>
              <a:t>RetailPulse</a:t>
            </a:r>
          </a:p>
          <a:p>
            <a:r>
              <a:rPr lang="en-US" sz="2400"/>
              <a:t>End-to-End Analytics Engineering</a:t>
            </a:r>
          </a:p>
          <a:p>
            <a:r>
              <a:rPr lang="en-US" sz="2400"/>
              <a:t>Google BigQuery + dbt Core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800" b="1"/>
              <a:t>What You Will Learn</a:t>
            </a:r>
          </a:p>
        </p:txBody>
      </p:sp>
      <p:sp>
        <p:nvSpPr>
          <p:cNvPr id="3" name="Body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n-US" sz="1800"/>
              <a:t>How modern analytics teams build trusted data pipelines</a:t>
            </a:r>
          </a:p>
          <a:p>
            <a:pPr lvl="0"/>
            <a:r>
              <a:rPr lang="en-US" sz="1800"/>
              <a:t>Medallion architecture: Raw → Staging → Intermediate → Marts</a:t>
            </a:r>
          </a:p>
          <a:p>
            <a:pPr lvl="0"/>
            <a:r>
              <a:rPr lang="en-US" sz="1800"/>
              <a:t>dbt for transformations, testing, documentation, and snapshots</a:t>
            </a:r>
          </a:p>
          <a:p>
            <a:pPr lvl="0"/>
            <a:r>
              <a:rPr lang="en-US" sz="1800"/>
              <a:t>GCP: BigQuery, Cloud Storage, Composer/Airflow</a:t>
            </a:r>
          </a:p>
          <a:p>
            <a:pPr lvl="0"/>
            <a:r>
              <a:rPr lang="en-US" sz="1800"/>
              <a:t>Infrastructure as Code with Terraform and CI/CD with GitHub Actions</a:t>
            </a:r>
          </a:p>
          <a:p>
            <a:pPr lvl="0"/>
            <a:r>
              <a:rPr lang="en-US" sz="1800"/>
              <a:t>Connecting analytics marts to Looker Studio dashboards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800" b="1"/>
              <a:t>Business Context</a:t>
            </a:r>
          </a:p>
        </p:txBody>
      </p:sp>
      <p:sp>
        <p:nvSpPr>
          <p:cNvPr id="3" name="Body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n-US" sz="1800"/>
              <a:t>RetailPulse simulates a real e-commerce analytics platform</a:t>
            </a:r>
          </a:p>
          <a:p>
            <a:pPr lvl="0"/>
            <a:r>
              <a:rPr lang="en-US" sz="1800"/>
              <a:t>Processes customers, products, orders, payments, returns, web events</a:t>
            </a:r>
          </a:p>
          <a:p>
            <a:pPr lvl="0"/>
            <a:r>
              <a:rPr lang="en-US" sz="1800"/>
              <a:t>50,000+ orders | 200,000+ web events | 5,000+ customers</a:t>
            </a:r>
          </a:p>
          <a:p>
            <a:pPr lvl="0"/>
            <a:r>
              <a:rPr lang="en-US" sz="1800"/>
              <a:t>Synthetic data generated with Python + Faker</a:t>
            </a:r>
          </a:p>
          <a:p>
            <a:pPr lvl="0"/>
            <a:r>
              <a:rPr lang="en-US" sz="1800"/>
              <a:t>Configurable record counts via command-line arguments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800" b="1"/>
              <a:t>Business Questions We Answer</a:t>
            </a:r>
          </a:p>
        </p:txBody>
      </p:sp>
      <p:sp>
        <p:nvSpPr>
          <p:cNvPr id="3" name="Body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n-US" sz="1800"/>
              <a:t>What are daily, weekly, and monthly sales trends?</a:t>
            </a:r>
          </a:p>
          <a:p>
            <a:pPr lvl="0"/>
            <a:r>
              <a:rPr lang="en-US" sz="1800"/>
              <a:t>Which products and categories generate the highest revenue?</a:t>
            </a:r>
          </a:p>
          <a:p>
            <a:pPr lvl="0"/>
            <a:r>
              <a:rPr lang="en-US" sz="1800"/>
              <a:t>Which customers are high-value, inactive, or at risk of churn?</a:t>
            </a:r>
          </a:p>
          <a:p>
            <a:pPr lvl="0"/>
            <a:r>
              <a:rPr lang="en-US" sz="1800"/>
              <a:t>What is average order value and repeat purchase rate?</a:t>
            </a:r>
          </a:p>
          <a:p>
            <a:pPr lvl="0"/>
            <a:r>
              <a:rPr lang="en-US" sz="1800"/>
              <a:t>Which products have high return rates?</a:t>
            </a:r>
          </a:p>
          <a:p>
            <a:pPr lvl="0"/>
            <a:r>
              <a:rPr lang="en-US" sz="1800"/>
              <a:t>Which marketing campaigns generate the highest ROI?</a:t>
            </a:r>
          </a:p>
          <a:p>
            <a:pPr lvl="0"/>
            <a:r>
              <a:rPr lang="en-US" sz="1800"/>
              <a:t>Which regions have the highest revenue and customer growth?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4400" b="1"/>
              <a:t>Architecture Overview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800" b="1"/>
              <a:t>High-Level Architecture</a:t>
            </a:r>
          </a:p>
        </p:txBody>
      </p:sp>
      <p:sp>
        <p:nvSpPr>
          <p:cNvPr id="3" name="Body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n-US" sz="1800"/>
              <a:t>1. Generate — Python creates realistic CSV files</a:t>
            </a:r>
          </a:p>
          <a:p>
            <a:pPr lvl="0"/>
            <a:r>
              <a:rPr lang="en-US" sz="1800"/>
              <a:t>2. Upload — Files land in Google Cloud Storage</a:t>
            </a:r>
          </a:p>
          <a:p>
            <a:pPr lvl="0"/>
            <a:r>
              <a:rPr lang="en-US" sz="1800"/>
              <a:t>3. Load — Python loads CSVs into BigQuery raw dataset</a:t>
            </a:r>
          </a:p>
          <a:p>
            <a:pPr lvl="0"/>
            <a:r>
              <a:rPr lang="en-US" sz="1800"/>
              <a:t>4. Transform — dbt builds staging, intermediate, mart layers</a:t>
            </a:r>
          </a:p>
          <a:p>
            <a:pPr lvl="0"/>
            <a:r>
              <a:rPr lang="en-US" sz="1800"/>
              <a:t>5. Orchestrate — Airflow DAG runs the pipeline daily</a:t>
            </a:r>
          </a:p>
          <a:p>
            <a:pPr lvl="0"/>
            <a:r>
              <a:rPr lang="en-US" sz="1800"/>
              <a:t>6. Consume — Looker Studio connects to reporting marts</a:t>
            </a:r>
          </a:p>
          <a:p>
            <a:pPr lvl="0"/>
            <a:r>
              <a:rPr lang="en-US" sz="1800"/>
              <a:t>7. Deploy — GitHub Actions tests and deploys to production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800" b="1"/>
              <a:t>Technology Stack</a:t>
            </a:r>
          </a:p>
        </p:txBody>
      </p:sp>
      <p:sp>
        <p:nvSpPr>
          <p:cNvPr id="3" name="Body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n-US" sz="1800"/>
              <a:t>Warehouse: Google BigQuery</a:t>
            </a:r>
          </a:p>
          <a:p>
            <a:pPr lvl="0"/>
            <a:r>
              <a:rPr lang="en-US" sz="1800"/>
              <a:t>Data Lake: Google Cloud Storage</a:t>
            </a:r>
          </a:p>
          <a:p>
            <a:pPr lvl="0"/>
            <a:r>
              <a:rPr lang="en-US" sz="1800"/>
              <a:t>Transform: dbt Core + dbt-bigquery adapter</a:t>
            </a:r>
          </a:p>
          <a:p>
            <a:pPr lvl="0"/>
            <a:r>
              <a:rPr lang="en-US" sz="1800"/>
              <a:t>Language: Python 3.11+ with Faker for synthetic data</a:t>
            </a:r>
          </a:p>
          <a:p>
            <a:pPr lvl="0"/>
            <a:r>
              <a:rPr lang="en-US" sz="1800"/>
              <a:t>Orchestration: Apache Airflow / Cloud Composer</a:t>
            </a:r>
          </a:p>
          <a:p>
            <a:pPr lvl="0"/>
            <a:r>
              <a:rPr lang="en-US" sz="1800"/>
              <a:t>IaC: Terraform | CI/CD: GitHub Actions</a:t>
            </a:r>
          </a:p>
          <a:p>
            <a:pPr lvl="0"/>
            <a:r>
              <a:rPr lang="en-US" sz="1800"/>
              <a:t>BI: Looker Studio | Quality: SQLFluff + dbt tests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4400" b="1"/>
              <a:t>Data Ingestion Layer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800" b="1"/>
              <a:t>Source Data Tables (9 Entities)</a:t>
            </a:r>
          </a:p>
        </p:txBody>
      </p:sp>
      <p:sp>
        <p:nvSpPr>
          <p:cNvPr id="3" name="Body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n-US" sz="1800"/>
              <a:t>customers — demographics, signup date, status</a:t>
            </a:r>
          </a:p>
          <a:p>
            <a:pPr lvl="0"/>
            <a:r>
              <a:rPr lang="en-US" sz="1800"/>
              <a:t>products &amp; categories — catalog, pricing, margins</a:t>
            </a:r>
          </a:p>
          <a:p>
            <a:pPr lvl="0"/>
            <a:r>
              <a:rPr lang="en-US" sz="1800"/>
              <a:t>orders &amp; order_items — transactions and line items</a:t>
            </a:r>
          </a:p>
          <a:p>
            <a:pPr lvl="0"/>
            <a:r>
              <a:rPr lang="en-US" sz="1800"/>
              <a:t>payments — payment method, amount, status</a:t>
            </a:r>
          </a:p>
          <a:p>
            <a:pPr lvl="0"/>
            <a:r>
              <a:rPr lang="en-US" sz="1800"/>
              <a:t>returns — refund amounts and reasons</a:t>
            </a:r>
          </a:p>
          <a:p>
            <a:pPr lvl="0"/>
            <a:r>
              <a:rPr lang="en-US" sz="1800"/>
              <a:t>web_events — page views, sessions, traffic sources</a:t>
            </a:r>
          </a:p>
          <a:p>
            <a:pPr lvl="0"/>
            <a:r>
              <a:rPr lang="en-US" sz="1800"/>
              <a:t>marketing_campaigns — budget, channel, dates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800" b="1"/>
              <a:t>Ingestion Best Practices</a:t>
            </a:r>
          </a:p>
        </p:txBody>
      </p:sp>
      <p:sp>
        <p:nvSpPr>
          <p:cNvPr id="3" name="Body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n-US" sz="1800"/>
              <a:t>Explicit BigQuery schemas (no autodetect)</a:t>
            </a:r>
          </a:p>
          <a:p>
            <a:pPr lvl="0"/>
            <a:r>
              <a:rPr lang="en-US" sz="1800"/>
              <a:t>Metadata: _ingested_at, _source_file, _batch_id</a:t>
            </a:r>
          </a:p>
          <a:p>
            <a:pPr lvl="0"/>
            <a:r>
              <a:rPr lang="en-US" sz="1800"/>
              <a:t>Environment variables for all configuration</a:t>
            </a:r>
          </a:p>
          <a:p>
            <a:pPr lvl="0"/>
            <a:r>
              <a:rPr lang="en-US" sz="1800"/>
              <a:t>LOAD_FROM_LOCAL=true for learning without GCS</a:t>
            </a:r>
          </a:p>
          <a:p>
            <a:pPr lvl="0"/>
            <a:r>
              <a:rPr lang="en-US" sz="1800"/>
              <a:t>Deduplication and type casting in staging layer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4400" b="1"/>
              <a:t>BigQuery Dataset Design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800" b="1"/>
              <a:t>Medallion Architecture — 6 Datasets</a:t>
            </a:r>
          </a:p>
        </p:txBody>
      </p:sp>
      <p:sp>
        <p:nvSpPr>
          <p:cNvPr id="3" name="Body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n-US" sz="1800"/>
              <a:t>retailpulse_raw — original CSV data from GCS</a:t>
            </a:r>
          </a:p>
          <a:p>
            <a:pPr lvl="0"/>
            <a:r>
              <a:rPr lang="en-US" sz="1800"/>
              <a:t>retailpulse_staging — cleaned views (dedup, cast, rename)</a:t>
            </a:r>
          </a:p>
          <a:p>
            <a:pPr lvl="0"/>
            <a:r>
              <a:rPr lang="en-US" sz="1800"/>
              <a:t>retailpulse_intermediate — enriched business logic</a:t>
            </a:r>
          </a:p>
          <a:p>
            <a:pPr lvl="0"/>
            <a:r>
              <a:rPr lang="en-US" sz="1800"/>
              <a:t>retailpulse_analytics — star schema (dims + facts)</a:t>
            </a:r>
          </a:p>
          <a:p>
            <a:pPr lvl="0"/>
            <a:r>
              <a:rPr lang="en-US" sz="1800"/>
              <a:t>retailpulse_reporting — Looker Studio-ready marts</a:t>
            </a:r>
          </a:p>
          <a:p>
            <a:pPr lvl="0"/>
            <a:r>
              <a:rPr lang="en-US" sz="1800"/>
              <a:t>retailpulse_snapshots — SCD Type 2 history tables</a:t>
            </a:r>
          </a:p>
          <a:p>
            <a:pPr lvl="0"/>
            <a:r>
              <a:rPr lang="en-US" sz="1800"/>
              <a:t>Environments: dev, qa, prod via DBT_TARGET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4400" b="1"/>
              <a:t>dbt Transformation Layers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800" b="1"/>
              <a:t>Layer 1: Staging (9 Models)</a:t>
            </a:r>
          </a:p>
        </p:txBody>
      </p:sp>
      <p:sp>
        <p:nvSpPr>
          <p:cNvPr id="3" name="Body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n-US" sz="1800"/>
              <a:t>One staging model per raw source table</a:t>
            </a:r>
          </a:p>
          <a:p>
            <a:pPr lvl="0"/>
            <a:r>
              <a:rPr lang="en-US" sz="1800"/>
              <a:t>source() references with freshness checks</a:t>
            </a:r>
          </a:p>
          <a:p>
            <a:pPr lvl="0"/>
            <a:r>
              <a:rPr lang="en-US" sz="1800"/>
              <a:t>Explicit type casting and deduplication (ROW_NUMBER)</a:t>
            </a:r>
          </a:p>
          <a:p>
            <a:pPr lvl="0"/>
            <a:r>
              <a:rPr lang="en-US" sz="1800"/>
              <a:t>Null-safe handling with COALESCE</a:t>
            </a:r>
          </a:p>
          <a:p>
            <a:pPr lvl="0"/>
            <a:r>
              <a:rPr lang="en-US" sz="1800"/>
              <a:t>Audit columns: _dbt_loaded_at, _dbt_invocation_id</a:t>
            </a:r>
          </a:p>
          <a:p>
            <a:pPr lvl="0"/>
            <a:r>
              <a:rPr lang="en-US" sz="1800"/>
              <a:t>Materialized as views (zero storage cost in dev)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800" b="1"/>
              <a:t>Layer 2: Intermediate (5 Models)</a:t>
            </a:r>
          </a:p>
        </p:txBody>
      </p:sp>
      <p:sp>
        <p:nvSpPr>
          <p:cNvPr id="3" name="Body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n-US" sz="1800"/>
              <a:t>int_orders_enriched — orders + customer + campaign</a:t>
            </a:r>
          </a:p>
          <a:p>
            <a:pPr lvl="0"/>
            <a:r>
              <a:rPr lang="en-US" sz="1800"/>
              <a:t>int_order_items_enriched — revenue calculations</a:t>
            </a:r>
          </a:p>
          <a:p>
            <a:pPr lvl="0"/>
            <a:r>
              <a:rPr lang="en-US" sz="1800"/>
              <a:t>int_customer_order_summary — per-customer aggregations</a:t>
            </a:r>
          </a:p>
          <a:p>
            <a:pPr lvl="0"/>
            <a:r>
              <a:rPr lang="en-US" sz="1800"/>
              <a:t>int_product_sales_summary — product + return metrics</a:t>
            </a:r>
          </a:p>
          <a:p>
            <a:pPr lvl="0"/>
            <a:r>
              <a:rPr lang="en-US" sz="1800"/>
              <a:t>int_campaign_attribution — marketing ROI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800" b="1"/>
              <a:t>Layer 3: Core Star Schema</a:t>
            </a:r>
          </a:p>
        </p:txBody>
      </p:sp>
      <p:sp>
        <p:nvSpPr>
          <p:cNvPr id="3" name="Body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n-US" sz="1800"/>
              <a:t>Dimensions: dim_customers, dim_products, dim_categories, dim_date</a:t>
            </a:r>
          </a:p>
          <a:p>
            <a:pPr lvl="0"/>
            <a:r>
              <a:rPr lang="en-US" sz="1800"/>
              <a:t>Facts: fct_orders, fct_order_items, fct_returns, fct_web_events</a:t>
            </a:r>
          </a:p>
          <a:p>
            <a:pPr lvl="0"/>
            <a:r>
              <a:rPr lang="en-US" sz="1800"/>
              <a:t>Surrogate keys via dbt_utils.generate_surrogate_key()</a:t>
            </a:r>
          </a:p>
          <a:p>
            <a:pPr lvl="0"/>
            <a:r>
              <a:rPr lang="en-US" sz="1800"/>
              <a:t>Partitioned by date, clustered on customer_id / product_id</a:t>
            </a:r>
          </a:p>
          <a:p>
            <a:pPr lvl="0"/>
            <a:r>
              <a:rPr lang="en-US" sz="1800"/>
              <a:t>Incremental merge for high-volume facts</a:t>
            </a:r>
          </a:p>
          <a:p>
            <a:pPr lvl="0"/>
            <a:r>
              <a:rPr lang="en-US" sz="1800"/>
              <a:t>7-day lookback for late-arriving data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800" b="1"/>
              <a:t>Layer 4: Reporting Marts</a:t>
            </a:r>
          </a:p>
        </p:txBody>
      </p:sp>
      <p:sp>
        <p:nvSpPr>
          <p:cNvPr id="3" name="Body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n-US" sz="1800"/>
              <a:t>mart_daily_sales — daily KPIs, AOV, return rate</a:t>
            </a:r>
          </a:p>
          <a:p>
            <a:pPr lvl="0"/>
            <a:r>
              <a:rPr lang="en-US" sz="1800"/>
              <a:t>mart_customer_360 — CLV, segments, churn risk</a:t>
            </a:r>
          </a:p>
          <a:p>
            <a:pPr lvl="0"/>
            <a:r>
              <a:rPr lang="en-US" sz="1800"/>
              <a:t>mart_product_performance — units, margin, segments</a:t>
            </a:r>
          </a:p>
          <a:p>
            <a:pPr lvl="0"/>
            <a:r>
              <a:rPr lang="en-US" sz="1800"/>
              <a:t>mart_campaign_roi — attributed revenue, ROI %</a:t>
            </a:r>
          </a:p>
          <a:p>
            <a:pPr lvl="0"/>
            <a:r>
              <a:rPr lang="en-US" sz="1800"/>
              <a:t>mart_customer_retention — cohort analysis</a:t>
            </a:r>
          </a:p>
          <a:p>
            <a:pPr lvl="0"/>
            <a:r>
              <a:rPr lang="en-US" sz="1800"/>
              <a:t>mart_regional_sales — geography breakdown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4400" b="1"/>
              <a:t>Data Quality &amp; Governance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800" b="1"/>
              <a:t>dbt Testing Strategy</a:t>
            </a:r>
          </a:p>
        </p:txBody>
      </p:sp>
      <p:sp>
        <p:nvSpPr>
          <p:cNvPr id="3" name="Body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n-US" sz="1800"/>
              <a:t>Schema tests: unique, not_null, relationships, accepted_values</a:t>
            </a:r>
          </a:p>
          <a:p>
            <a:pPr lvl="0"/>
            <a:r>
              <a:rPr lang="en-US" sz="1800"/>
              <a:t>Custom: no negative revenue, no future dates</a:t>
            </a:r>
          </a:p>
          <a:p>
            <a:pPr lvl="0"/>
            <a:r>
              <a:rPr lang="en-US" sz="1800"/>
              <a:t>Custom: valid order status, return amount &lt;= net sales</a:t>
            </a:r>
          </a:p>
          <a:p>
            <a:pPr lvl="0"/>
            <a:r>
              <a:rPr lang="en-US" sz="1800"/>
              <a:t>Source freshness: warn 24h, error 48h</a:t>
            </a:r>
          </a:p>
          <a:p>
            <a:pPr lvl="0"/>
            <a:r>
              <a:rPr lang="en-US" sz="1800"/>
              <a:t>store_failures: true for debugging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800" b="1"/>
              <a:t>SCD Type 2 Snapshots</a:t>
            </a:r>
          </a:p>
        </p:txBody>
      </p:sp>
      <p:sp>
        <p:nvSpPr>
          <p:cNvPr id="3" name="Body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n-US" sz="1800"/>
              <a:t>snap_customers — city, state, status changes</a:t>
            </a:r>
          </a:p>
          <a:p>
            <a:pPr lvl="0"/>
            <a:r>
              <a:rPr lang="en-US" sz="1800"/>
              <a:t>snap_products — price, cost, category changes</a:t>
            </a:r>
          </a:p>
          <a:p>
            <a:pPr lvl="0"/>
            <a:r>
              <a:rPr lang="en-US" sz="1800"/>
              <a:t>Timestamp strategy with updated_at column</a:t>
            </a:r>
          </a:p>
          <a:p>
            <a:pPr lvl="0"/>
            <a:r>
              <a:rPr lang="en-US" sz="1800"/>
              <a:t>Enables historical analysis and audit trails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4400" b="1"/>
              <a:t>Orchestration &amp; DevOps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800" b="1"/>
              <a:t>Airflow Pipeline (10 Tasks)</a:t>
            </a:r>
          </a:p>
        </p:txBody>
      </p:sp>
      <p:sp>
        <p:nvSpPr>
          <p:cNvPr id="3" name="Body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n-US" sz="1800"/>
              <a:t>Generate → Upload → Create datasets → Load raw data</a:t>
            </a:r>
          </a:p>
          <a:p>
            <a:pPr lvl="0"/>
            <a:r>
              <a:rPr lang="en-US" sz="1800"/>
              <a:t>dbt source freshness → snapshots → run → test → docs</a:t>
            </a:r>
          </a:p>
          <a:p>
            <a:pPr lvl="0"/>
            <a:r>
              <a:rPr lang="en-US" sz="1800"/>
              <a:t>Retry: 2 attempts, 5-minute delay</a:t>
            </a:r>
          </a:p>
          <a:p>
            <a:pPr lvl="0"/>
            <a:r>
              <a:rPr lang="en-US" sz="1800"/>
              <a:t>Failure callbacks for alerting</a:t>
            </a:r>
          </a:p>
          <a:p>
            <a:pPr lvl="0"/>
            <a:r>
              <a:rPr lang="en-US" sz="1800"/>
              <a:t>Compatible with Google Cloud Composer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800" b="1"/>
              <a:t>CI/CD with GitHub Actions</a:t>
            </a:r>
          </a:p>
        </p:txBody>
      </p:sp>
      <p:sp>
        <p:nvSpPr>
          <p:cNvPr id="3" name="Body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n-US" sz="1800"/>
              <a:t>PR: dbt parse, compile, test changed models, SQLFluff</a:t>
            </a:r>
          </a:p>
          <a:p>
            <a:pPr lvl="0"/>
            <a:r>
              <a:rPr lang="en-US" sz="1800"/>
              <a:t>Main: authenticate GCP, dbt build prod, upload docs to GCS</a:t>
            </a:r>
          </a:p>
          <a:p>
            <a:pPr lvl="0"/>
            <a:r>
              <a:rPr lang="en-US" sz="1800"/>
              <a:t>Secrets: GCP_PROJECT_ID, GCP_SA_KEY, GCS_BUCKET_NAME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800" b="1"/>
              <a:t>Infrastructure as Code (Terraform)</a:t>
            </a:r>
          </a:p>
        </p:txBody>
      </p:sp>
      <p:sp>
        <p:nvSpPr>
          <p:cNvPr id="3" name="Body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n-US" sz="1800"/>
              <a:t>GCS bucket, 6 BigQuery datasets, service account</a:t>
            </a:r>
          </a:p>
          <a:p>
            <a:pPr lvl="0"/>
            <a:r>
              <a:rPr lang="en-US" sz="1800"/>
              <a:t>IAM: dataEditor, jobUser, storage.objectAdmin</a:t>
            </a:r>
          </a:p>
          <a:p>
            <a:pPr lvl="0"/>
            <a:r>
              <a:rPr lang="en-US" sz="1800"/>
              <a:t>Composer optional (disabled by default for cost)</a:t>
            </a:r>
          </a:p>
          <a:p>
            <a:pPr lvl="0"/>
            <a:r>
              <a:rPr lang="en-US" sz="1800"/>
              <a:t>terraform init → plan → apply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4400" b="1"/>
              <a:t>Hands-On Demo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800" b="1"/>
              <a:t>Run Locally in 5 Steps</a:t>
            </a:r>
          </a:p>
        </p:txBody>
      </p:sp>
      <p:sp>
        <p:nvSpPr>
          <p:cNvPr id="3" name="Body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n-US" sz="1800"/>
              <a:t>1. cp .env.example .env — configure GCP credentials</a:t>
            </a:r>
          </a:p>
          <a:p>
            <a:pPr lvl="0"/>
            <a:r>
              <a:rPr lang="en-US" sz="1800"/>
              <a:t>2. make setup — install dependencies</a:t>
            </a:r>
          </a:p>
          <a:p>
            <a:pPr lvl="0"/>
            <a:r>
              <a:rPr lang="en-US" sz="1800"/>
              <a:t>3. make generate — create synthetic data</a:t>
            </a:r>
          </a:p>
          <a:p>
            <a:pPr lvl="0"/>
            <a:r>
              <a:rPr lang="en-US" sz="1800"/>
              <a:t>4. LOAD_FROM_LOCAL=true make load — load to BigQuery</a:t>
            </a:r>
          </a:p>
          <a:p>
            <a:pPr lvl="0"/>
            <a:r>
              <a:rPr lang="en-US" sz="1800"/>
              <a:t>5. make dbt-build — models + tests + snapshots</a:t>
            </a:r>
          </a:p>
          <a:p>
            <a:pPr lvl="0"/>
            <a:r>
              <a:rPr lang="en-US" sz="1800"/>
              <a:t>Bonus: make dbt-docs — explore lineage in browser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800" b="1"/>
              <a:t>Looker Studio Dashboard Ideas</a:t>
            </a:r>
          </a:p>
        </p:txBody>
      </p:sp>
      <p:sp>
        <p:nvSpPr>
          <p:cNvPr id="3" name="Body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n-US" sz="1800"/>
              <a:t>Executive Sales → mart_daily_sales</a:t>
            </a:r>
          </a:p>
          <a:p>
            <a:pPr lvl="0"/>
            <a:r>
              <a:rPr lang="en-US" sz="1800"/>
              <a:t>Customer 360 → mart_customer_360</a:t>
            </a:r>
          </a:p>
          <a:p>
            <a:pPr lvl="0"/>
            <a:r>
              <a:rPr lang="en-US" sz="1800"/>
              <a:t>Product Analytics → mart_product_performance</a:t>
            </a:r>
          </a:p>
          <a:p>
            <a:pPr lvl="0"/>
            <a:r>
              <a:rPr lang="en-US" sz="1800"/>
              <a:t>Marketing ROI → mart_campaign_roi</a:t>
            </a:r>
          </a:p>
          <a:p>
            <a:pPr lvl="0"/>
            <a:r>
              <a:rPr lang="en-US" sz="1800"/>
              <a:t>Retention Cohorts → mart_customer_retention</a:t>
            </a:r>
          </a:p>
          <a:p>
            <a:pPr lvl="0"/>
            <a:r>
              <a:rPr lang="en-US" sz="1800"/>
              <a:t>Regional Map → mart_regional_sales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4400" b="1"/>
              <a:t>Career &amp; Interview Prep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800" b="1"/>
              <a:t>Resume Bullets</a:t>
            </a:r>
          </a:p>
        </p:txBody>
      </p:sp>
      <p:sp>
        <p:nvSpPr>
          <p:cNvPr id="3" name="Body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n-US" sz="1800"/>
              <a:t>Built analytics platform processing 50K+ orders on BigQuery</a:t>
            </a:r>
          </a:p>
          <a:p>
            <a:pPr lvl="0"/>
            <a:r>
              <a:rPr lang="en-US" sz="1800"/>
              <a:t>Designed medallion architecture with 30+ dbt models</a:t>
            </a:r>
          </a:p>
          <a:p>
            <a:pPr lvl="0"/>
            <a:r>
              <a:rPr lang="en-US" sz="1800"/>
              <a:t>Star schema with partitioned/clustered fact tables</a:t>
            </a:r>
          </a:p>
          <a:p>
            <a:pPr lvl="0"/>
            <a:r>
              <a:rPr lang="en-US" sz="1800"/>
              <a:t>SCD Type 2 snapshots for dimension tracking</a:t>
            </a:r>
          </a:p>
          <a:p>
            <a:pPr lvl="0"/>
            <a:r>
              <a:rPr lang="en-US" sz="1800"/>
              <a:t>CI/CD with GitHub Actions, Airflow on Cloud Composer</a:t>
            </a:r>
          </a:p>
          <a:p>
            <a:pPr lvl="0"/>
            <a:r>
              <a:rPr lang="en-US" sz="1800"/>
              <a:t>GCP infrastructure provisioned with Terraform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800" b="1"/>
              <a:t>Interview Questions</a:t>
            </a:r>
          </a:p>
        </p:txBody>
      </p:sp>
      <p:sp>
        <p:nvSpPr>
          <p:cNvPr id="3" name="Body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n-US" sz="1800"/>
              <a:t>Why medallion architecture? — Separation of concerns</a:t>
            </a:r>
          </a:p>
          <a:p>
            <a:pPr lvl="0"/>
            <a:r>
              <a:rPr lang="en-US" sz="1800"/>
              <a:t>Why partition AND cluster? — Reduce bytes scanned + filter speed</a:t>
            </a:r>
          </a:p>
          <a:p>
            <a:pPr lvl="0"/>
            <a:r>
              <a:rPr lang="en-US" sz="1800"/>
              <a:t>Incremental vs full refresh? — Size and append pattern</a:t>
            </a:r>
          </a:p>
          <a:p>
            <a:pPr lvl="0"/>
            <a:r>
              <a:rPr lang="en-US" sz="1800"/>
              <a:t>Late-arriving data? — Lookback window on incremental models</a:t>
            </a:r>
          </a:p>
          <a:p>
            <a:pPr lvl="0"/>
            <a:r>
              <a:rPr lang="en-US" sz="1800"/>
              <a:t>Data quality? — dbt tests + freshness + snapshots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800" b="1"/>
              <a:t>BigQuery Cost Tips</a:t>
            </a:r>
          </a:p>
        </p:txBody>
      </p:sp>
      <p:sp>
        <p:nvSpPr>
          <p:cNvPr id="3" name="Body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n-US" sz="1800"/>
              <a:t>Views for staging/intermediate (no storage cost)</a:t>
            </a:r>
          </a:p>
          <a:p>
            <a:pPr lvl="0"/>
            <a:r>
              <a:rPr lang="en-US" sz="1800"/>
              <a:t>Always filter on partition columns</a:t>
            </a:r>
          </a:p>
          <a:p>
            <a:pPr lvl="0"/>
            <a:r>
              <a:rPr lang="en-US" sz="1800"/>
              <a:t>Cluster on high-cardinality WHERE columns</a:t>
            </a:r>
          </a:p>
          <a:p>
            <a:pPr lvl="0"/>
            <a:r>
              <a:rPr lang="en-US" sz="1800"/>
              <a:t>Avoid SELECT * — query only needed columns</a:t>
            </a:r>
          </a:p>
          <a:p>
            <a:pPr lvl="0"/>
            <a:r>
              <a:rPr lang="en-US" sz="1800"/>
              <a:t>Monitor costs in BigQuery audit logs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800" b="1"/>
              <a:t>Key Takeaways</a:t>
            </a:r>
          </a:p>
        </p:txBody>
      </p:sp>
      <p:sp>
        <p:nvSpPr>
          <p:cNvPr id="3" name="Body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n-US" sz="1800"/>
              <a:t>Analytics engineering = software engineering + data modeling</a:t>
            </a:r>
          </a:p>
          <a:p>
            <a:pPr lvl="0"/>
            <a:r>
              <a:rPr lang="en-US" sz="1800"/>
              <a:t>dbt is the industry standard for warehouse transformations</a:t>
            </a:r>
          </a:p>
          <a:p>
            <a:pPr lvl="0"/>
            <a:r>
              <a:rPr lang="en-US" sz="1800"/>
              <a:t>Test your data like you test your code</a:t>
            </a:r>
          </a:p>
          <a:p>
            <a:pPr lvl="0"/>
            <a:r>
              <a:rPr lang="en-US" sz="1800"/>
              <a:t>Start local, deploy to cloud — same patterns everywhere</a:t>
            </a:r>
          </a:p>
          <a:p>
            <a:pPr lvl="0"/>
            <a:r>
              <a:rPr lang="en-US" sz="1800"/>
              <a:t>This project covers 80% of junior analytics engineer interviews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2400"/>
              <a:t>Thank You!</a:t>
            </a:r>
          </a:p>
          <a:p>
            <a:r>
              <a:rPr lang="en-US" sz="2400"/>
              <a:t>Questions? Clone retailpulse-bigquery-dbt and start building.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RetailPulse">
  <a:themeElements>
    <a:clrScheme name="RetailPulse">
      <a:dk1>
        <a:sysClr val="windowText" lastClr="000000"/>
      </a:dk1>
      <a:lt1>
        <a:sysClr val="window" lastClr="FFFFFF"/>
      </a:lt1>
      <a:dk2>
        <a:srgbClr val="1A365D"/>
      </a:dk2>
      <a:lt2>
        <a:srgbClr val="F5F5F5"/>
      </a:lt2>
      <a:accent1>
        <a:srgbClr val="009688"/>
      </a:accent1>
      <a:accent2>
        <a:srgbClr val="4285F4"/>
      </a:accent2>
      <a:accent3>
        <a:srgbClr val="1A365D"/>
      </a:accent3>
      <a:accent4>
        <a:srgbClr val="00BCD4"/>
      </a:accent4>
      <a:accent5>
        <a:srgbClr val="FF9800"/>
      </a:accent5>
      <a:accent6>
        <a:srgbClr val="9C27B0"/>
      </a:accent6>
      <a:hlink>
        <a:srgbClr val="0563C1"/>
      </a:hlink>
      <a:folHlink>
        <a:srgbClr val="954F72"/>
      </a:folHlink>
    </a:clrScheme>
    <a:fontScheme name="Office">
      <a:majorFont/>
      <a:minorFont/>
    </a:fontScheme>
    <a:fmtScheme name="Office">
      <a:fillStyleLst/>
      <a:lnStyleLst/>
      <a:effectStyleLst/>
      <a:bgFillStyleLst/>
    </a:fmtScheme>
  </a:themeElements>
</a:theme>
</file>

<file path=docProps/app.xml><?xml version="1.0" encoding="utf-8"?>
<Properties xmlns="http://schemas.openxmlformats.org/officeDocument/2006/extended-properties">
  <Application>RetailPulse Generator</Application>
  <Slides>33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RetailPulse Student Presentation</dc:title>
  <dc:creator>RetailPulse Analytics Engineering</dc:creator>
  <dc:description>End-to-end analytics engineering capstone for students</dc:description>
</cp:coreProperties>
</file>